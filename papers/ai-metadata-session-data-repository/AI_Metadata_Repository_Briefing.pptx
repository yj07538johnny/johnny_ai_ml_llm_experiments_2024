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is one sentence: we cannot manage AI we cannot see, and seeing how this organization uses generative AI requires capturing that use before we know what we will need to ask of it. I am proposing that we build two repositories to hold that record, and that [Sponsoring Organization] sponsor the effort. In the next few minutes: the exposure we carry today, the two-repository architecture I want to build, what it lets us measure and defend, and the ask. This is a proposal and a plan of build, not a report of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is running ahead of management. A model is already drafting clauses, answering customers, and writing code across the organization, and each interaction leaves almost nothing behind. We keep the output and lose the conditions that produced it. That single gap makes two things invisible at once: the value we are getting, which we cannot prove, and the failures we are exposed to, which we cannot see. A manager accountable for an AI deployment cannot today answer basic questions: what do we have deployed, how much do we use it, is it working, how often is it wrong, and does that wrong thing spread. The instinct is to add metrics. That fails, because the failures that matter most are the ones nobody thought to declare in advance. What we lack is not a dashboard, it is a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proposal, on the table before I justify it. We build two repositories. The first is a content repository: the AI session data itself, every prompt, turn, tool call, and piece of context, preserved as the organization's system of record. The second is a metadata repository: everything we derive from that content in order to manage the AI, an inventory of what we have deployed, how much it is used, how well it performs, and the return it produces. Instrumented AI systems feed the content repository; the metadata repository is derived from it and segregated by sensitivity; reporting draws from the metadata repository. Everything else in this briefing is the case for why this shape is right and why it has to be built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metadata repository is the quantitative management vehicle, and it is where the return case lives. It answers what leadership asks and cannot get today, across all of the systems at once. An inventory and user base: what AI systems, models, and versions are deployed, and the tens of thousands of users on them. Utilization and experience: sessions, token consumption, and the user experience and journey, broken down by team and by market segment. Infrastructure: the GPU compute and network the services consume, which is the real cost base of AI at scale. Effectiveness and return: task success and rework, and cost set against attributable value, so the scale and scope of the investment become a number rather than a guess. Inside it, the risk and continuity metadata are segregated by sensitivity and governed on their own terms. This is the repository that turns the AI budget from an act of faith into an account.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 repository is the other half, and it answers the questions counts cannot. It collects, retains, and sustains the session data of every user-AI session across every service, the prompts, turns, tool calls, and context, as the system of record. Because it preserves what was actually said and done, it is the substrate for qualitative and retrospective work. It is the basis for forensic investigation after a harm event, and for examining, classifying, studying, mitigating, and preventing hallucination behaviors. And from the same content we derive qualitative measures of AI performance by classifying the interactions themselves: what the AI is actually used for, how far it supports each user's work role, and whether the work products people produce with it improve in quality, velocity, scope, completeness, and professionalism. The metadata repository tells us how much and how many; the content repository tells us how well and to what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reasons this is time-sensitive. First, epistemology. A new failure mode only becomes measurable after enough instances accumulate and someone builds the lens to see it, and both happen after capture. So capture cannot wait on knowing what to look for. And the asymmetry is brutal: capture we omit before a phenomenon emerges cannot be recovered afterward. There is no retrospective study of data nobody wrote down. Capturing now is cheap; reconstructing later is impossible. Second, liability. An AI harm is foreseeable, because a prompt that works today can fail tomorrow; detectable, because the interaction can be examined; and mitigatable, because a caught fault can be corrected before it spreads. An organization that could have foreseen, detected, and mitigated a harm, and did not, because it kept no record, owns the consequence. The record converts a realized loss into a managed event.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record is the risk and safety substrate. Hallucination is not one thing; we classify it against a taxonomy and manage it on an adverse-event lifecycle borrowed from public health: instance, to tracked incidence, to cause and cascade, to mitigation whose efficacy is measured across a dated boundary, to prevention. And when a harm does occur, the harm is not the end of the event, it opens a required investigation. The record lets us reconstruct the trigger and conditions, attribute the event by separating what the human did from what the AI did, which distinguishes insider misuse, where a person directs the AI against us, from rogue or agentic behavior, where the model itself acts unsafely, and trace how far it spread. The investigation prescribes a guardrail matched to the cause, prompt engineering, a human review gate, workforce training, a permission limit, and because each guardrail is dated, we can prove it worked. This covers the surfaces you named: hallucination, insider threat, rogue behavior, refusal, and forensics.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payoffs that matter to a sponsor. First, return becomes an account rather than an anecdote. Cost we know from the record; outcome value we know from the outcome store; return is the relation between them, reported at each layer of the objective hierarchy. The question an executive most wants answered, how far AI multiplies what our people produce, becomes a computed quantity tracked over time. Second, this de-risks the compliance position. The architecture supplies exactly the record that the NIST AI Risk Management Framework, ISO 42001 and 23894, the EU AI Act's logging obligations, and the OWASP LLM Top 10 all presume but do not provide. And governance is built in, not bolted on: stores are segregated by sensitivity, identity is pseudonymous by default so we measure roles and workflows rather than people, and insider-threat monitoring is bounded by purpose, access, and proportionality.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and the plan. I am proposing [Sponsoring Organization] as the mission sponsor. What I need from the organization is its own data: the inventory of AI systems in use, the objective hierarchy each layer answers to, and the surfaces where AI is used so we know where to instrument. The build is phased and low-risk: stand up the content repository first, because everything depends on capture; derive the metadata repository from it; then add reporting and the return view. We do not boil the ocean, we pilot on one bounded workflow, measure it against its own objectives, and widen only once it earns that. And the paper states dated, falsifiable predictions that become the pilot's acceptance tests, so success or failure is a matter of record, not opinion.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back to the one sentence. An organization cannot manage what it cannot see, and it cannot see its use of AI without a record of that use. Build the two repositories that hold that record and two things become true at once: the harms of AI become foreseeable, detectable, and mitigatable, and the value of AI, including how far it multiplies our people's output, becomes calculable. The same record serves both, so an organization that keeps it can both defend against AI liability and prove its return, and one that does not can do neither. The one property I want to leave you with is that this is time-sensitive: capture we do not start today is capture we can never recover. The ask is simple, and it is to sponsor building the record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likely questions: how capture works, how ROI is computed, the hallucination detail, and the falsifiable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capture actually works. Each interaction is stored as one immutable event that records the exchanged text and the conditions that produced it: the system prompt, the decoding parameters, the model version, the tool calls, and the human interactions, the edits, acceptances, and rejections. A hallucination produced under a permissive prompt is a different event, with a different cause, from the same words under a constraining one. Events link to their antecedents and consequents, so a cascade is traversed rather than guessed, and each is kept twice: a raw append-only form that is never rewritten, and a structured, queryable form. A later re-classification adds a label; it never alters the original. This is the content repository, and every downstream number and detection is a query over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metadata repository produces its numbers. Measures are not properties of the architecture; they are the organization's objectives, defined in layers, corporate at the top, division and workflow below, each naming its own measures. The architecture does not impose a fixed metric set; it collects, detects, catalogs, and stores the outcomes those measures are computed from and rolls them up. Measures of performance sit close to the interaction, latency, availability, token cost; measures of effectiveness against the objective a workflow serves, task success, rework, escalation; KPIs are the business-facing roll-ups. On top it adds measures a fixed dashboard misses: workforce acumen, model drift, and the gap between how much people trust the model and how reliable it is. Return is cost from the record set against attributable outcome value, per layer.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hallucination detail. We borrow the shape from adverse-event surveillance. A single failure is an instance, and its importance is not evident at the moment it occurs, because impact is a function of trajectory. Repeated instances form an incidence we track. Some trace to a cause; some cascade. A mitigation applied after detection has an efficacy measured as a change in incidence across the dated boundary where we applied it, and a mitigation moved upstream becomes prevention. The taxonomy names the forms so detection knows what to look for: fabrication, overconfidence and misrepresentation, staleness, context loss, attribution error, scope and instruction divergence, and agentic or tool-use failure. Refusal, over- and under-restriction, is tracked alongside as an adjacent mode. Fabrication is the sharpest, and provenance is the defense: it keeps a generated assertion distinguishable from an established 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is a proposal, its claims are on the record now as dated, falsifiable predictions, and they double as the pilot's acceptance tests. Recurrence should cluster around context saturation and compaction, not arrive at random. In a broadly captured corpus, the rate of discovering new failure classes should rise with the corpus's age and size. Mitigation efficacy should be visible as an incidence change across the dated boundary. Without a repository, an incident's true impact should be systematically underestimated, because the cascade is invisible at the moment it occurs. Guardrails upstream of a cause should outperform guardrails at the point of harm. And tightening a system prompt should trade over-refusal against under-refusal. If the deployed record does not show these, we will know, and that is the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2560320"/>
          </a:xfrm>
          <a:prstGeom prst="rect">
            <a:avLst/>
          </a:prstGeom>
          <a:noFill/>
        </p:spPr>
        <p:txBody>
          <a:bodyPr wrap="square">
            <a:spAutoFit/>
          </a:bodyPr>
          <a:lstStyle/>
          <a:p>
            <a:r>
              <a:rPr sz="4000" b="1">
                <a:solidFill>
                  <a:srgbClr val="112A46"/>
                </a:solidFill>
                <a:latin typeface="Calibri"/>
              </a:rPr>
              <a:t>AI Metadata and Session Data Repository</a:t>
            </a:r>
          </a:p>
          <a:p>
            <a:r>
              <a:rPr sz="2000">
                <a:solidFill>
                  <a:srgbClr val="1F6F8B"/>
                </a:solidFill>
                <a:latin typeface="Calibri"/>
              </a:rPr>
              <a:t>A Client Architecture for Managing, Measuring, and Mitigating Enterprise Generative AI</a:t>
            </a:r>
          </a:p>
          <a:p>
            <a:pPr>
              <a:spcBef>
                <a:spcPts val="1800"/>
              </a:spcBef>
            </a:pPr>
            <a:r>
              <a:rPr sz="1500">
                <a:solidFill>
                  <a:srgbClr val="5A636B"/>
                </a:solidFill>
                <a:latin typeface="Calibri"/>
              </a:rPr>
              <a:t>Johnny Morgan  |  UMBC Department of Information Systems</a:t>
            </a:r>
          </a:p>
          <a:p>
            <a:pPr>
              <a:spcBef>
                <a:spcPts val="600"/>
              </a:spcBef>
            </a:pPr>
            <a:r>
              <a:rPr sz="1300" i="1">
                <a:solidFill>
                  <a:srgbClr val="1F6F8B"/>
                </a:solidFill>
                <a:latin typeface="Calibri"/>
              </a:rPr>
              <a:t>Proposed for development and adoption by [Sponsoring Organization], mission sponsor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Managing AI we cannot see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Adoption is at scale: dozens of purpose-based AI systems serving tens of thousands of users</a:t>
            </a:r>
          </a:p>
          <a:p>
            <a:pPr>
              <a:spcAft>
                <a:spcPts val="800"/>
              </a:spcAft>
            </a:pPr>
            <a:r>
              <a:rPr sz="1900">
                <a:solidFill>
                  <a:srgbClr val="202428"/>
                </a:solidFill>
                <a:latin typeface="Calibri"/>
              </a:rPr>
              <a:t>•  A model drafts replies, writes code, summarizes, and helps decide; each interaction is used and then gone</a:t>
            </a:r>
          </a:p>
          <a:p>
            <a:pPr>
              <a:spcAft>
                <a:spcPts val="800"/>
              </a:spcAft>
            </a:pPr>
            <a:r>
              <a:rPr sz="1900">
                <a:solidFill>
                  <a:srgbClr val="202428"/>
                </a:solidFill>
                <a:latin typeface="Calibri"/>
              </a:rPr>
              <a:t>•  No inventory, no utilization record, no trace of failure: we can prove neither the return nor the harm</a:t>
            </a:r>
          </a:p>
          <a:p>
            <a:pPr lvl="1">
              <a:spcAft>
                <a:spcPts val="800"/>
              </a:spcAft>
            </a:pPr>
            <a:r>
              <a:rPr sz="1700">
                <a:solidFill>
                  <a:srgbClr val="5A636B"/>
                </a:solidFill>
                <a:latin typeface="Calibri"/>
              </a:rPr>
              <a:t>–  Governance and regulation now treat the record of AI use as an obligation, not an option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What we propose: two repositories</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Metadata repository: quantitative, inventory, utilization, tokens, compute, market segments, ROI</a:t>
            </a:r>
          </a:p>
          <a:p>
            <a:pPr>
              <a:spcAft>
                <a:spcPts val="800"/>
              </a:spcAft>
            </a:pPr>
            <a:r>
              <a:rPr sz="1800">
                <a:solidFill>
                  <a:srgbClr val="202428"/>
                </a:solidFill>
                <a:latin typeface="Calibri"/>
              </a:rPr>
              <a:t>•  Content repository: qualitative and forensic, every session as the system of record</a:t>
            </a:r>
          </a:p>
          <a:p>
            <a:pPr>
              <a:spcAft>
                <a:spcPts val="800"/>
              </a:spcAft>
            </a:pPr>
            <a:r>
              <a:rPr sz="1800">
                <a:solidFill>
                  <a:srgbClr val="202428"/>
                </a:solidFill>
                <a:latin typeface="Calibri"/>
              </a:rPr>
              <a:t>•  Systems feed content; metadata is derived; reporting draws from both</a:t>
            </a:r>
          </a:p>
        </p:txBody>
      </p:sp>
      <p:pic>
        <p:nvPicPr>
          <p:cNvPr id="4" name="Picture 3" descr="fig1.png"/>
          <p:cNvPicPr>
            <a:picLocks noChangeAspect="1"/>
          </p:cNvPicPr>
          <p:nvPr/>
        </p:nvPicPr>
        <p:blipFill>
          <a:blip r:embed="rId2"/>
          <a:stretch>
            <a:fillRect/>
          </a:stretch>
        </p:blipFill>
        <p:spPr>
          <a:xfrm>
            <a:off x="551696" y="3200400"/>
            <a:ext cx="11088303" cy="32918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metadata repository: the quantitative picture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Inventory and user base: which AI systems, models, and versions are deployed, and the users on them</a:t>
            </a:r>
          </a:p>
          <a:p>
            <a:pPr>
              <a:spcAft>
                <a:spcPts val="800"/>
              </a:spcAft>
            </a:pPr>
            <a:r>
              <a:rPr sz="1900">
                <a:solidFill>
                  <a:srgbClr val="202428"/>
                </a:solidFill>
                <a:latin typeface="Calibri"/>
              </a:rPr>
              <a:t>•  Utilization and experience: sessions, token consumption, user experience and journey, by team and market segment</a:t>
            </a:r>
          </a:p>
          <a:p>
            <a:pPr>
              <a:spcAft>
                <a:spcPts val="800"/>
              </a:spcAft>
            </a:pPr>
            <a:r>
              <a:rPr sz="1900">
                <a:solidFill>
                  <a:srgbClr val="202428"/>
                </a:solidFill>
                <a:latin typeface="Calibri"/>
              </a:rPr>
              <a:t>•  Infrastructure: the GPU compute and network the services draw on, the cost base of AI</a:t>
            </a:r>
          </a:p>
          <a:p>
            <a:pPr>
              <a:spcAft>
                <a:spcPts val="800"/>
              </a:spcAft>
            </a:pPr>
            <a:r>
              <a:rPr sz="1900">
                <a:solidFill>
                  <a:srgbClr val="202428"/>
                </a:solidFill>
                <a:latin typeface="Calibri"/>
              </a:rPr>
              <a:t>•  Effectiveness and return: task success and rework; cost against attributable value; the scale and scope of the investment</a:t>
            </a:r>
          </a:p>
          <a:p>
            <a:pPr lvl="1">
              <a:spcAft>
                <a:spcPts val="800"/>
              </a:spcAft>
            </a:pPr>
            <a:r>
              <a:rPr sz="1700">
                <a:solidFill>
                  <a:srgbClr val="5A636B"/>
                </a:solidFill>
                <a:latin typeface="Calibri"/>
              </a:rPr>
              <a:t>–  Segregated by sensitivity: risk and continuity metadata governed on their own terms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content repository: the qualitative and forensic substrate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Collects, retains, and sustains every user-AI session across every service, as the system of record</a:t>
            </a:r>
          </a:p>
          <a:p>
            <a:pPr>
              <a:spcAft>
                <a:spcPts val="800"/>
              </a:spcAft>
            </a:pPr>
            <a:r>
              <a:rPr sz="1900">
                <a:solidFill>
                  <a:srgbClr val="202428"/>
                </a:solidFill>
                <a:latin typeface="Calibri"/>
              </a:rPr>
              <a:t>•  The basis for forensic investigation after a harm event, and for studying, mitigating, and preventing hallucination</a:t>
            </a:r>
          </a:p>
          <a:p>
            <a:pPr>
              <a:spcAft>
                <a:spcPts val="800"/>
              </a:spcAft>
            </a:pPr>
            <a:r>
              <a:rPr sz="1900">
                <a:solidFill>
                  <a:srgbClr val="202428"/>
                </a:solidFill>
                <a:latin typeface="Calibri"/>
              </a:rPr>
              <a:t>•  Qualitative measures by classifying the interactions: what the AI is used for, how far it supports each work role</a:t>
            </a:r>
          </a:p>
          <a:p>
            <a:pPr lvl="1">
              <a:spcAft>
                <a:spcPts val="800"/>
              </a:spcAft>
            </a:pPr>
            <a:r>
              <a:rPr sz="1700">
                <a:solidFill>
                  <a:srgbClr val="5A636B"/>
                </a:solidFill>
                <a:latin typeface="Calibri"/>
              </a:rPr>
              <a:t>–  Whether users' work products improve in quality, velocity, scope, completeness, and professionalism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Why it must be built now</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The failures worth measuring are not known in advance; capture must precede the question</a:t>
            </a:r>
          </a:p>
          <a:p>
            <a:pPr>
              <a:spcAft>
                <a:spcPts val="800"/>
              </a:spcAft>
            </a:pPr>
            <a:r>
              <a:rPr sz="1900">
                <a:solidFill>
                  <a:srgbClr val="202428"/>
                </a:solidFill>
                <a:latin typeface="Calibri"/>
              </a:rPr>
              <a:t>•  Anything not captured before it emerges is unrecoverable: a permanent blind spot</a:t>
            </a:r>
          </a:p>
          <a:p>
            <a:pPr>
              <a:spcAft>
                <a:spcPts val="800"/>
              </a:spcAft>
            </a:pPr>
            <a:r>
              <a:rPr sz="1900">
                <a:solidFill>
                  <a:srgbClr val="202428"/>
                </a:solidFill>
                <a:latin typeface="Calibri"/>
              </a:rPr>
              <a:t>•  AI harms are foreseeable, detectable, and mitigatable</a:t>
            </a:r>
          </a:p>
          <a:p>
            <a:pPr lvl="1">
              <a:spcAft>
                <a:spcPts val="800"/>
              </a:spcAft>
            </a:pPr>
            <a:r>
              <a:rPr sz="1700">
                <a:solidFill>
                  <a:srgbClr val="5A636B"/>
                </a:solidFill>
                <a:latin typeface="Calibri"/>
              </a:rPr>
              <a:t>–  A harm we could have caught but did not record is one we own; the record makes it a managed event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Managing risk and harm: from detection to forensics</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Hallucination detection, mitigation, and prevention on a measured adverse-event lifecycle</a:t>
            </a:r>
          </a:p>
          <a:p>
            <a:pPr>
              <a:spcAft>
                <a:spcPts val="800"/>
              </a:spcAft>
            </a:pPr>
            <a:r>
              <a:rPr sz="1800">
                <a:solidFill>
                  <a:srgbClr val="202428"/>
                </a:solidFill>
                <a:latin typeface="Calibri"/>
              </a:rPr>
              <a:t>•  After a harm: reconstruct the trigger, attribute human actor vs AI actor (insider misuse vs rogue action), trace the cascade</a:t>
            </a:r>
          </a:p>
          <a:p>
            <a:pPr>
              <a:spcAft>
                <a:spcPts val="800"/>
              </a:spcAft>
            </a:pPr>
            <a:r>
              <a:rPr sz="1800">
                <a:solidFill>
                  <a:srgbClr val="202428"/>
                </a:solidFill>
                <a:latin typeface="Calibri"/>
              </a:rPr>
              <a:t>•  Prescribe guardrails matched to cause: prompt engineering, review gates, training, permission limits; measure that they worked</a:t>
            </a:r>
          </a:p>
        </p:txBody>
      </p:sp>
      <p:pic>
        <p:nvPicPr>
          <p:cNvPr id="4" name="Picture 3" descr="fig6.png"/>
          <p:cNvPicPr>
            <a:picLocks noChangeAspect="1"/>
          </p:cNvPicPr>
          <p:nvPr/>
        </p:nvPicPr>
        <p:blipFill>
          <a:blip r:embed="rId2"/>
          <a:stretch>
            <a:fillRect/>
          </a:stretch>
        </p:blipFill>
        <p:spPr>
          <a:xfrm>
            <a:off x="518007" y="3200400"/>
            <a:ext cx="11155680" cy="274559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Proving return, and meeting the mandate</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Return is a computed account: cost from the record against attributable outcome value, per layer</a:t>
            </a:r>
          </a:p>
          <a:p>
            <a:pPr>
              <a:spcAft>
                <a:spcPts val="800"/>
              </a:spcAft>
            </a:pPr>
            <a:r>
              <a:rPr sz="1900">
                <a:solidFill>
                  <a:srgbClr val="202428"/>
                </a:solidFill>
                <a:latin typeface="Calibri"/>
              </a:rPr>
              <a:t>•  The question 'how far does AI multiply human capital' becomes measured, not asserted</a:t>
            </a:r>
          </a:p>
          <a:p>
            <a:pPr>
              <a:spcAft>
                <a:spcPts val="800"/>
              </a:spcAft>
            </a:pPr>
            <a:r>
              <a:rPr sz="1900">
                <a:solidFill>
                  <a:srgbClr val="202428"/>
                </a:solidFill>
                <a:latin typeface="Calibri"/>
              </a:rPr>
              <a:t>•  Supplies the record NIST AI RMF, ISO 42001 and 23894, the EU AI Act, and OWASP LLM Top 10 presume</a:t>
            </a:r>
          </a:p>
          <a:p>
            <a:pPr lvl="1">
              <a:spcAft>
                <a:spcPts val="800"/>
              </a:spcAft>
            </a:pPr>
            <a:r>
              <a:rPr sz="1700">
                <a:solidFill>
                  <a:srgbClr val="5A636B"/>
                </a:solidFill>
                <a:latin typeface="Calibri"/>
              </a:rPr>
              <a:t>–  Governed by design: segregation by sensitivity, pseudonymous identity, bounded monitoring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Mission sponsor and next steps</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Proposed for [Sponsoring Organization] as mission sponsor</a:t>
            </a:r>
          </a:p>
          <a:p>
            <a:pPr>
              <a:spcAft>
                <a:spcPts val="800"/>
              </a:spcAft>
            </a:pPr>
            <a:r>
              <a:rPr sz="1900">
                <a:solidFill>
                  <a:srgbClr val="202428"/>
                </a:solidFill>
                <a:latin typeface="Calibri"/>
              </a:rPr>
              <a:t>•  Organization data to provide: AI systems inventory, objective hierarchy, deployment surfaces</a:t>
            </a:r>
          </a:p>
          <a:p>
            <a:pPr>
              <a:spcAft>
                <a:spcPts val="800"/>
              </a:spcAft>
            </a:pPr>
            <a:r>
              <a:rPr sz="1900">
                <a:solidFill>
                  <a:srgbClr val="202428"/>
                </a:solidFill>
                <a:latin typeface="Calibri"/>
              </a:rPr>
              <a:t>•  Phased build: content repository first, then metadata derivation, then reporting and ROI</a:t>
            </a:r>
          </a:p>
          <a:p>
            <a:pPr>
              <a:spcAft>
                <a:spcPts val="800"/>
              </a:spcAft>
            </a:pPr>
            <a:r>
              <a:rPr sz="1900">
                <a:solidFill>
                  <a:srgbClr val="202428"/>
                </a:solidFill>
                <a:latin typeface="Calibri"/>
              </a:rPr>
              <a:t>•  Pilot on one bounded workflow, measure against its objectives, then widen</a:t>
            </a:r>
          </a:p>
          <a:p>
            <a:pPr lvl="1">
              <a:spcAft>
                <a:spcPts val="800"/>
              </a:spcAft>
            </a:pPr>
            <a:r>
              <a:rPr sz="1700">
                <a:solidFill>
                  <a:srgbClr val="5A636B"/>
                </a:solidFill>
                <a:latin typeface="Calibri"/>
              </a:rPr>
              <a:t>–  The paper's dated, falsifiable predictions become the acceptance tests for the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ask: build the record first</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On the record, AI harms become foreseeable, detectable, and mitigatable</a:t>
            </a:r>
          </a:p>
          <a:p>
            <a:pPr>
              <a:spcAft>
                <a:spcPts val="800"/>
              </a:spcAft>
            </a:pPr>
            <a:r>
              <a:rPr sz="1900">
                <a:solidFill>
                  <a:srgbClr val="202428"/>
                </a:solidFill>
                <a:latin typeface="Calibri"/>
              </a:rPr>
              <a:t>•  On the same record, AI's value, including how far it multiplies human capital, becomes calculable</a:t>
            </a:r>
          </a:p>
          <a:p>
            <a:pPr>
              <a:spcAft>
                <a:spcPts val="800"/>
              </a:spcAft>
            </a:pPr>
            <a:r>
              <a:rPr sz="1900">
                <a:solidFill>
                  <a:srgbClr val="202428"/>
                </a:solidFill>
                <a:latin typeface="Calibri"/>
              </a:rPr>
              <a:t>•  Keep the record and we can both defend against AI liability and prove its return; without it, neither</a:t>
            </a:r>
          </a:p>
          <a:p>
            <a:pPr lvl="1">
              <a:spcAft>
                <a:spcPts val="800"/>
              </a:spcAft>
            </a:pPr>
            <a:r>
              <a:rPr sz="1700">
                <a:solidFill>
                  <a:srgbClr val="5A636B"/>
                </a:solidFill>
                <a:latin typeface="Calibri"/>
              </a:rPr>
              <a:t>–  Capture now is cheap; reconstruction later is impossible. The decision is time-sensitive.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834640"/>
            <a:ext cx="10698480" cy="1097280"/>
          </a:xfrm>
          <a:prstGeom prst="rect">
            <a:avLst/>
          </a:prstGeom>
          <a:noFill/>
        </p:spPr>
        <p:txBody>
          <a:bodyPr wrap="none">
            <a:spAutoFit/>
          </a:bodyPr>
          <a:lstStyle/>
          <a:p>
            <a:r>
              <a:rPr sz="3400" b="1">
                <a:solidFill>
                  <a:srgbClr val="5A636B"/>
                </a:solidFill>
                <a:latin typeface="Calibri"/>
              </a:rPr>
              <a:t>Backup material</a:t>
            </a:r>
          </a:p>
          <a:p>
            <a:r>
              <a:rPr sz="1500">
                <a:solidFill>
                  <a:srgbClr val="1F6F8B"/>
                </a:solidFill>
                <a:latin typeface="Calibri"/>
              </a:rPr>
              <a:t>Data model  ·  measurement mechanics  ·  hallucination lifecycle  ·  registered predictions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the immutable, linked event</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Each interaction is one immutable event: the text and the conditions that produced it</a:t>
            </a:r>
          </a:p>
          <a:p>
            <a:pPr>
              <a:spcAft>
                <a:spcPts val="800"/>
              </a:spcAft>
            </a:pPr>
            <a:r>
              <a:rPr sz="1800">
                <a:solidFill>
                  <a:srgbClr val="202428"/>
                </a:solidFill>
                <a:latin typeface="Calibri"/>
              </a:rPr>
              <a:t>•  Captures system prompt, decoding parameters, model version, tool calls, human edits and acceptances</a:t>
            </a:r>
          </a:p>
          <a:p>
            <a:pPr>
              <a:spcAft>
                <a:spcPts val="800"/>
              </a:spcAft>
            </a:pPr>
            <a:r>
              <a:rPr sz="1800">
                <a:solidFill>
                  <a:srgbClr val="202428"/>
                </a:solidFill>
                <a:latin typeface="Calibri"/>
              </a:rPr>
              <a:t>•  Antecedent and consequent links; a raw append-only form and a queryable structured form</a:t>
            </a:r>
          </a:p>
        </p:txBody>
      </p:sp>
      <p:pic>
        <p:nvPicPr>
          <p:cNvPr id="4" name="Picture 3" descr="fig2.png"/>
          <p:cNvPicPr>
            <a:picLocks noChangeAspect="1"/>
          </p:cNvPicPr>
          <p:nvPr/>
        </p:nvPicPr>
        <p:blipFill>
          <a:blip r:embed="rId2"/>
          <a:stretch>
            <a:fillRect/>
          </a:stretch>
        </p:blipFill>
        <p:spPr>
          <a:xfrm>
            <a:off x="1535592" y="3200400"/>
            <a:ext cx="9120510" cy="3291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how the measures and ROI are computed</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Objectives are exogenous and layered: workflow, division, corporate, each defines its own measures</a:t>
            </a:r>
          </a:p>
          <a:p>
            <a:pPr>
              <a:spcAft>
                <a:spcPts val="800"/>
              </a:spcAft>
            </a:pPr>
            <a:r>
              <a:rPr sz="1800">
                <a:solidFill>
                  <a:srgbClr val="202428"/>
                </a:solidFill>
                <a:latin typeface="Calibri"/>
              </a:rPr>
              <a:t>•  The architecture computes them over the record and rolls outcomes up the hierarchy</a:t>
            </a:r>
          </a:p>
          <a:p>
            <a:pPr>
              <a:spcAft>
                <a:spcPts val="800"/>
              </a:spcAft>
            </a:pPr>
            <a:r>
              <a:rPr sz="1800">
                <a:solidFill>
                  <a:srgbClr val="202428"/>
                </a:solidFill>
                <a:latin typeface="Calibri"/>
              </a:rPr>
              <a:t>•  MOPs close to the interaction, MOEs against the objective, KPIs business-facing; plus acumen and the trust gap</a:t>
            </a:r>
          </a:p>
        </p:txBody>
      </p:sp>
      <p:pic>
        <p:nvPicPr>
          <p:cNvPr id="4" name="Picture 3" descr="fig3.png"/>
          <p:cNvPicPr>
            <a:picLocks noChangeAspect="1"/>
          </p:cNvPicPr>
          <p:nvPr/>
        </p:nvPicPr>
        <p:blipFill>
          <a:blip r:embed="rId2"/>
          <a:stretch>
            <a:fillRect/>
          </a:stretch>
        </p:blipFill>
        <p:spPr>
          <a:xfrm>
            <a:off x="2892782" y="3200400"/>
            <a:ext cx="6406131" cy="32918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the hallucination lifecycle and taxonomy</a:t>
            </a:r>
          </a:p>
        </p:txBody>
      </p:sp>
      <p:sp>
        <p:nvSpPr>
          <p:cNvPr id="3" name="TextBox 2"/>
          <p:cNvSpPr txBox="1"/>
          <p:nvPr/>
        </p:nvSpPr>
        <p:spPr>
          <a:xfrm>
            <a:off x="640080" y="1371600"/>
            <a:ext cx="11064240" cy="1737360"/>
          </a:xfrm>
          <a:prstGeom prst="rect">
            <a:avLst/>
          </a:prstGeom>
          <a:noFill/>
        </p:spPr>
        <p:txBody>
          <a:bodyPr wrap="square">
            <a:spAutoFit/>
          </a:bodyPr>
          <a:lstStyle/>
          <a:p>
            <a:pPr>
              <a:spcAft>
                <a:spcPts val="800"/>
              </a:spcAft>
            </a:pPr>
            <a:r>
              <a:rPr sz="1800">
                <a:solidFill>
                  <a:srgbClr val="202428"/>
                </a:solidFill>
                <a:latin typeface="Calibri"/>
              </a:rPr>
              <a:t>•  Instance, to tracked incidence, to cause and cascade, to mitigation, to prevention</a:t>
            </a:r>
          </a:p>
          <a:p>
            <a:pPr>
              <a:spcAft>
                <a:spcPts val="800"/>
              </a:spcAft>
            </a:pPr>
            <a:r>
              <a:rPr sz="1800">
                <a:solidFill>
                  <a:srgbClr val="202428"/>
                </a:solidFill>
                <a:latin typeface="Calibri"/>
              </a:rPr>
              <a:t>•  Efficacy is a change in incidence across a dated boundary; upstream mitigation becomes prevention</a:t>
            </a:r>
          </a:p>
          <a:p>
            <a:pPr>
              <a:spcAft>
                <a:spcPts val="800"/>
              </a:spcAft>
            </a:pPr>
            <a:r>
              <a:rPr sz="1800">
                <a:solidFill>
                  <a:srgbClr val="202428"/>
                </a:solidFill>
                <a:latin typeface="Calibri"/>
              </a:rPr>
              <a:t>•  Taxonomy: fabrication, overconfidence, staleness, context loss, attribution, scope divergence, agentic failure; refusal is adjacent</a:t>
            </a:r>
          </a:p>
        </p:txBody>
      </p:sp>
      <p:pic>
        <p:nvPicPr>
          <p:cNvPr id="4" name="Picture 3" descr="fig4.png"/>
          <p:cNvPicPr>
            <a:picLocks noChangeAspect="1"/>
          </p:cNvPicPr>
          <p:nvPr/>
        </p:nvPicPr>
        <p:blipFill>
          <a:blip r:embed="rId2"/>
          <a:stretch>
            <a:fillRect/>
          </a:stretch>
        </p:blipFill>
        <p:spPr>
          <a:xfrm>
            <a:off x="518007" y="3200400"/>
            <a:ext cx="11155680" cy="250190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Backup: registered predictions (acceptance tests)</a:t>
            </a:r>
          </a:p>
        </p:txBody>
      </p:sp>
      <p:sp>
        <p:nvSpPr>
          <p:cNvPr id="3" name="TextBox 2"/>
          <p:cNvSpPr txBox="1"/>
          <p:nvPr/>
        </p:nvSpPr>
        <p:spPr>
          <a:xfrm>
            <a:off x="640080" y="1554480"/>
            <a:ext cx="11064240" cy="4846320"/>
          </a:xfrm>
          <a:prstGeom prst="rect">
            <a:avLst/>
          </a:prstGeom>
          <a:noFill/>
        </p:spPr>
        <p:txBody>
          <a:bodyPr wrap="square">
            <a:spAutoFit/>
          </a:bodyPr>
          <a:lstStyle/>
          <a:p>
            <a:pPr>
              <a:spcAft>
                <a:spcPts val="800"/>
              </a:spcAft>
            </a:pPr>
            <a:r>
              <a:rPr sz="1900">
                <a:solidFill>
                  <a:srgbClr val="202428"/>
                </a:solidFill>
                <a:latin typeface="Calibri"/>
              </a:rPr>
              <a:t>•  Hallucination recurrence clusters around context-window saturation and compaction, not at random</a:t>
            </a:r>
          </a:p>
          <a:p>
            <a:pPr>
              <a:spcAft>
                <a:spcPts val="800"/>
              </a:spcAft>
            </a:pPr>
            <a:r>
              <a:rPr sz="1900">
                <a:solidFill>
                  <a:srgbClr val="202428"/>
                </a:solidFill>
                <a:latin typeface="Calibri"/>
              </a:rPr>
              <a:t>•  Newly detectable failure classes rise with the age and size of a broadly captured corpus</a:t>
            </a:r>
          </a:p>
          <a:p>
            <a:pPr>
              <a:spcAft>
                <a:spcPts val="800"/>
              </a:spcAft>
            </a:pPr>
            <a:r>
              <a:rPr sz="1900">
                <a:solidFill>
                  <a:srgbClr val="202428"/>
                </a:solidFill>
                <a:latin typeface="Calibri"/>
              </a:rPr>
              <a:t>•  Mitigation efficacy is measurable as an incidence change across a dated boundary</a:t>
            </a:r>
          </a:p>
          <a:p>
            <a:pPr>
              <a:spcAft>
                <a:spcPts val="800"/>
              </a:spcAft>
            </a:pPr>
            <a:r>
              <a:rPr sz="1900">
                <a:solidFill>
                  <a:srgbClr val="202428"/>
                </a:solidFill>
                <a:latin typeface="Calibri"/>
              </a:rPr>
              <a:t>•  Without the record, an incident's impact is systematically underestimated</a:t>
            </a:r>
          </a:p>
          <a:p>
            <a:pPr>
              <a:spcAft>
                <a:spcPts val="800"/>
              </a:spcAft>
            </a:pPr>
            <a:r>
              <a:rPr sz="1900">
                <a:solidFill>
                  <a:srgbClr val="202428"/>
                </a:solidFill>
                <a:latin typeface="Calibri"/>
              </a:rPr>
              <a:t>•  Guardrail efficacy is larger upstream of the cause than at the point of harm</a:t>
            </a:r>
          </a:p>
          <a:p>
            <a:pPr>
              <a:spcAft>
                <a:spcPts val="800"/>
              </a:spcAft>
            </a:pPr>
            <a:r>
              <a:rPr sz="1900">
                <a:solidFill>
                  <a:srgbClr val="202428"/>
                </a:solidFill>
                <a:latin typeface="Calibri"/>
              </a:rPr>
              <a:t>•  Over-refusal and under-refusal trade off as the instruction frame tightens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
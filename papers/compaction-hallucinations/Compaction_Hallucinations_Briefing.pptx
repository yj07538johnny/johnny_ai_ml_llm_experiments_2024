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hook is that this is the model losing its OWN work, not losing a fact</a:t>
            </a:r>
          </a:p>
          <a:p>
            <a:r>
              <a:t>somebody told it.</a:t>
            </a:r>
          </a:p>
          <a:p/>
          <a:p>
            <a:r>
              <a:t>337 summaries from 162 sessions. For each one we still had the full</a:t>
            </a:r>
          </a:p>
          <a:p>
            <a:r>
              <a:t>transcript it replaced, so this is checkable rather than impressionistic.</a:t>
            </a:r>
          </a:p>
          <a:p/>
          <a:p>
            <a:r>
              <a:t>56% average preservation. Let that sit before moving on. Nearly half of</a:t>
            </a:r>
          </a:p>
          <a:p>
            <a:r>
              <a:t>what happened did not survive into the record the model then worked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four boxes left to right. Long session, memory fills, it summarises</a:t>
            </a:r>
          </a:p>
          <a:p>
            <a:r>
              <a:t>ITSELF, work continues from the summary.</a:t>
            </a:r>
          </a:p>
          <a:p/>
          <a:p>
            <a:r>
              <a:t>The distinction that matters: this is not forgetting something you told it. It</a:t>
            </a:r>
          </a:p>
          <a:p>
            <a:r>
              <a:t>is rewriting the record of its own work and then trusting the rewrite. Every</a:t>
            </a:r>
          </a:p>
          <a:p>
            <a:r>
              <a:t>decision after that point rests on the summary being right.</a:t>
            </a:r>
          </a:p>
          <a:p/>
          <a:p>
            <a:r>
              <a:t>The green box is the surprise, and it is worth pausing on. Zero fabrication</a:t>
            </a:r>
          </a:p>
          <a:p>
            <a:r>
              <a:t>across every audited summary. It does not invent. It loses and it reshapes.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slide. Give it time.</a:t>
            </a:r>
          </a:p>
          <a:p/>
          <a:p>
            <a:r>
              <a:t>Top: git commit hashes at 99.7%. A seven-character string. Copying</a:t>
            </a:r>
          </a:p>
          <a:p>
            <a:r>
              <a:t>it correctly requires no understanding, and it either matches or it does not.</a:t>
            </a:r>
          </a:p>
          <a:p/>
          <a:p>
            <a:r>
              <a:t>Bottom: "What went wrong" at 32%. That requires deciding what</a:t>
            </a:r>
          </a:p>
          <a:p>
            <a:r>
              <a:t>counted as going wrong, how serious it was, whether it got resolved. That is</a:t>
            </a:r>
          </a:p>
          <a:p>
            <a:r>
              <a:t>interpretation.</a:t>
            </a:r>
          </a:p>
          <a:p/>
          <a:p>
            <a:r>
              <a:t>The rule: the more a fact is a literal token, the better it survives. The more it</a:t>
            </a:r>
          </a:p>
          <a:p>
            <a:r>
              <a:t>needs judgement, the worse.</a:t>
            </a:r>
          </a:p>
          <a:p/>
          <a:p>
            <a:r>
              <a:t>The consequence to say out loud: after a compaction the model is most reliable</a:t>
            </a:r>
          </a:p>
          <a:p>
            <a:r>
              <a:t>about the things you could have looked up yourself, and least reliable about the</a:t>
            </a:r>
          </a:p>
          <a:p>
            <a:r>
              <a:t>things you would actually ask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quarters of tool calls and nearly two thirds of user messages do not reach</a:t>
            </a:r>
          </a:p>
          <a:p>
            <a:r>
              <a:t>the summary.</a:t>
            </a:r>
          </a:p>
          <a:p/>
          <a:p>
            <a:r>
              <a:t>The direction matters: 263 summaries under-report how many</a:t>
            </a:r>
          </a:p>
          <a:p>
            <a:r>
              <a:t>errors occurred, 57 over-report. Combined with zero</a:t>
            </a:r>
          </a:p>
          <a:p>
            <a:r>
              <a:t>fabrication, this is a model that drops bad news rather than manufacturing it.</a:t>
            </a:r>
          </a:p>
          <a:p/>
          <a:p>
            <a:r>
              <a:t>That shapes the defence. A fact-checker aimed at invented claims would pass every</a:t>
            </a:r>
          </a:p>
          <a:p>
            <a:r>
              <a:t>one of these summaries while the record quietly degraded.</a:t>
            </a:r>
          </a:p>
          <a:p/>
          <a:p>
            <a:r>
              <a:t>The purple box is the uncomfortable part. We tag four named pathologies. 61% of</a:t>
            </a:r>
          </a:p>
          <a:p>
            <a:r>
              <a:t>summaries trip none of them and are no more accurate. The loss is diffuse and</a:t>
            </a:r>
          </a:p>
          <a:p>
            <a:r>
              <a:t>silent, not concentrated in flagged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three, then open the floor.</a:t>
            </a:r>
          </a:p>
          <a:p/>
          <a:p>
            <a:r>
              <a:t>Point 3 needs its caveat said out loud, not buried. The raw counts look like a</a:t>
            </a:r>
          </a:p>
          <a:p>
            <a:r>
              <a:t>collapse after the practice changed. Once you normalise by session volume, which</a:t>
            </a:r>
          </a:p>
          <a:p>
            <a:r>
              <a:t>swings more than twentyfold across the window, the drop is real but partly</a:t>
            </a:r>
          </a:p>
          <a:p>
            <a:r>
              <a:t>reverts. Backup slide has both panels if anyone pushes.</a:t>
            </a:r>
          </a:p>
          <a:p/>
          <a:p>
            <a:r>
              <a:t>Open questions if there is appetite:</a:t>
            </a:r>
          </a:p>
          <a:p>
            <a:r>
              <a:t>  - can a constrained summary format raise fidelity? testable against this audit</a:t>
            </a:r>
          </a:p>
          <a:p>
            <a:r>
              <a:t>  - what happens across repeated compactions, a summary of a summary?</a:t>
            </a:r>
          </a:p>
          <a:p>
            <a:r>
              <a:t>  - does the model know it lost something? nothing in these summaries flags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this for "so did the fix work?"</a:t>
            </a:r>
          </a:p>
          <a:p/>
          <a:p>
            <a:r>
              <a:t>Left panel is what a deck usually shows: 70 events in March, 1 in April. Clean</a:t>
            </a:r>
          </a:p>
          <a:p>
            <a:r>
              <a:t>collapse.</a:t>
            </a:r>
          </a:p>
          <a:p/>
          <a:p>
            <a:r>
              <a:t>Right panel is what the left one omits. Session volume ranges from 97 to 2,217</a:t>
            </a:r>
          </a:p>
          <a:p>
            <a:r>
              <a:t>across these months, so raw counts are not comparable. Normalised, March is still</a:t>
            </a:r>
          </a:p>
          <a:p>
            <a:r>
              <a:t>the peak and April still falls, but June returns to roughly where December sat,</a:t>
            </a:r>
          </a:p>
          <a:p>
            <a:r>
              <a:t>before the practice existed.</a:t>
            </a:r>
          </a:p>
          <a:p/>
          <a:p>
            <a:r>
              <a:t>Supportable statement: it became less frequent, and the effect is not</a:t>
            </a:r>
          </a:p>
          <a:p>
            <a:r>
              <a:t>established. A matched comparison is open work.</a:t>
            </a:r>
          </a:p>
          <a:p/>
          <a:p>
            <a:r>
              <a:t>If it is useful, say why both panels are here: showing only the left one would be</a:t>
            </a:r>
          </a:p>
          <a:p>
            <a:r>
              <a:t>the same overconfident claim this whole taxonomy exists to catch.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When the AI Rewrites Its Own History</a:t>
            </a:r>
          </a:p>
          <a:p>
            <a:pPr algn="l">
              <a:spcAft>
                <a:spcPts val="0"/>
              </a:spcAft>
              <a:defRPr sz="1900" b="0">
                <a:solidFill>
                  <a:srgbClr val="93C5FD"/>
                </a:solidFill>
                <a:latin typeface="Calibri"/>
              </a:defRPr>
            </a:pPr>
            <a:r>
              <a:t>Compaction hallucinations, measured across 337 audited summaries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017520"/>
            <a:ext cx="10515600" cy="1463040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182112"/>
            <a:ext cx="9875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11827"/>
                </a:solidFill>
                <a:latin typeface="Calibri"/>
              </a:defRPr>
            </a:pPr>
            <a:r>
              <a:t>A long session runs out of memory. The model summarises itself, throws away the original, and keeps going.</a:t>
            </a:r>
          </a:p>
          <a:p>
            <a:pPr algn="l">
              <a:spcAft>
                <a:spcPts val="0"/>
              </a:spcAft>
              <a:defRPr sz="2100" b="1">
                <a:solidFill>
                  <a:srgbClr val="B91C1C"/>
                </a:solidFill>
                <a:latin typeface="Calibri"/>
              </a:defRPr>
            </a:pPr>
            <a:r>
              <a:t>Those summaries preserved 56% of what actually happened.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A 5-minute orientation, not a full treatment.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Johnny Morgan   ·   University of Maryland, Baltimore County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45309"/>
                </a:solidFill>
                <a:latin typeface="Calibri"/>
              </a:defRPr>
            </a:pPr>
            <a:r>
              <a:t>THE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What compaction is</a:t>
            </a:r>
          </a:p>
        </p:txBody>
      </p:sp>
      <p:pic>
        <p:nvPicPr>
          <p:cNvPr id="5" name="Picture 4" descr="fig1_what_is_comp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49" y="1874519"/>
            <a:ext cx="10119597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The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B91C1C"/>
                </a:solidFill>
                <a:latin typeface="Calibri"/>
              </a:defRPr>
            </a:pPr>
            <a:r>
              <a:t>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What survives, and what does not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The ordering is the finding, not a presentation choice</a:t>
            </a:r>
          </a:p>
        </p:txBody>
      </p:sp>
      <p:pic>
        <p:nvPicPr>
          <p:cNvPr id="5" name="Picture 4" descr="fig2_fidelity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589" y="1874519"/>
            <a:ext cx="9416517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The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563EB"/>
                </a:solidFill>
                <a:latin typeface="Calibri"/>
              </a:defRPr>
            </a:pPr>
            <a:r>
              <a:t>THE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How much simply disappears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Totals across all 337 audited summaries</a:t>
            </a:r>
          </a:p>
        </p:txBody>
      </p:sp>
      <p:pic>
        <p:nvPicPr>
          <p:cNvPr id="5" name="Picture 4" descr="fig3_what_gets_d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084" y="1828800"/>
            <a:ext cx="8239527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5504688"/>
            <a:ext cx="10515600" cy="749808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5605272"/>
            <a:ext cx="99669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  <a:defRPr sz="1450" b="1">
                <a:solidFill>
                  <a:srgbClr val="111827"/>
                </a:solidFill>
                <a:latin typeface="Calibri"/>
              </a:defRPr>
            </a:pPr>
            <a:r>
              <a:t>Most of the damage carries no warning label.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111827"/>
                </a:solidFill>
                <a:latin typeface="Calibri"/>
              </a:defRPr>
            </a:pPr>
            <a:r>
              <a:t>207 of 337 summaries trip none of our four pathology detectors, and their fidelity is no better than the ones that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The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to do about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57400"/>
            <a:ext cx="457200" cy="56692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12264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01168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111827"/>
                </a:solidFill>
                <a:latin typeface="Calibri"/>
              </a:defRPr>
            </a:pPr>
            <a:r>
              <a:t>Treat a post-compaction summary as a lead, not a record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6B7280"/>
                </a:solidFill>
                <a:latin typeface="Calibri"/>
              </a:defRPr>
            </a:pPr>
            <a:r>
              <a:t>Reliable about identifiers, unreliable about interpretation. If a decision turns on what went wrong earlier, go to the source.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291840"/>
            <a:ext cx="457200" cy="566928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46704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24612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111827"/>
                </a:solidFill>
                <a:latin typeface="Calibri"/>
              </a:defRPr>
            </a:pPr>
            <a:r>
              <a:t>Anything that must survive should be a symbol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6B7280"/>
                </a:solidFill>
                <a:latin typeface="Calibri"/>
              </a:defRPr>
            </a:pPr>
            <a:r>
              <a:t>Commit hashes survived at 99.7% because they are literal strings with no interpretation in the middle. Exact paths, identifiers and error text survive compression. Prose does not.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526280"/>
            <a:ext cx="45720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81144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4805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111827"/>
                </a:solidFill>
                <a:latin typeface="Calibri"/>
              </a:defRPr>
            </a:pPr>
            <a:r>
              <a:t>End long sessions on purpose</a:t>
            </a:r>
          </a:p>
          <a:p>
            <a:pPr algn="l">
              <a:spcAft>
                <a:spcPts val="0"/>
              </a:spcAft>
              <a:defRPr sz="1350" b="0">
                <a:solidFill>
                  <a:srgbClr val="6B7280"/>
                </a:solidFill>
                <a:latin typeface="Calibri"/>
              </a:defRPr>
            </a:pPr>
            <a:r>
              <a:t>A session that stops before it is forced to compact never produces this failure at all. Doing so here coincided with a drop, though the effect is not yet established.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559552"/>
            <a:ext cx="10515600" cy="694944"/>
          </a:xfrm>
          <a:prstGeom prst="rect">
            <a:avLst/>
          </a:prstGeom>
          <a:solidFill>
            <a:srgbClr val="ECFDF5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650992"/>
            <a:ext cx="9966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350" b="1">
                <a:solidFill>
                  <a:srgbClr val="111827"/>
                </a:solidFill>
                <a:latin typeface="Calibri"/>
              </a:defRPr>
            </a:pPr>
            <a:r>
              <a:t>Do not build the defence around fabrication. Zero invented content across all 337 summaries. The failure is omission, not invention.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Takeaways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B7280"/>
                </a:solidFill>
                <a:latin typeface="Calibri"/>
              </a:defRPr>
            </a:pPr>
            <a: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08813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11827"/>
                </a:solidFill>
                <a:latin typeface="Calibri"/>
              </a:defRPr>
            </a:pPr>
            <a:r>
              <a:t>Backup: did anything reduce it?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B7280"/>
                </a:solidFill>
                <a:latin typeface="Calibri"/>
              </a:defRPr>
            </a:pPr>
            <a:r>
              <a:t>Not part of the 5-slide talk. The same data under two denominators.</a:t>
            </a:r>
          </a:p>
        </p:txBody>
      </p:sp>
      <p:pic>
        <p:nvPicPr>
          <p:cNvPr id="5" name="Picture 4" descr="fig4_interv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50" y="1874519"/>
            <a:ext cx="10941194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Backup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8251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
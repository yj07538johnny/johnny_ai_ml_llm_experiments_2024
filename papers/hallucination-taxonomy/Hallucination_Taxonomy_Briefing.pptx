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hook and let it sit for a beat.</a:t>
            </a:r>
          </a:p>
          <a:p/>
          <a:p>
            <a:r>
              <a:t>Everyone in the room has heard "hallucination" and thinks it means the model</a:t>
            </a:r>
          </a:p>
          <a:p>
            <a:r>
              <a:t>invented a fact. That is real, and it is under a third of what we measured. The</a:t>
            </a:r>
          </a:p>
          <a:p>
            <a:r>
              <a:t>other two thirds is the model doing the work wrong while sounding exactly as</a:t>
            </a:r>
          </a:p>
          <a:p>
            <a:r>
              <a:t>confident as when it does the work right.</a:t>
            </a:r>
          </a:p>
          <a:p/>
          <a:p>
            <a:r>
              <a:t>Say what this is NOT: not a survey of the literature, not a safety talk. It is</a:t>
            </a:r>
          </a:p>
          <a:p>
            <a:r>
              <a:t>what we found by instrumenting our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boxed definition out loud. It is the only definition in the talk.</a:t>
            </a:r>
          </a:p>
          <a:p/>
          <a:p>
            <a:r>
              <a:t>The three points underneath are the ones people push back on:</a:t>
            </a:r>
          </a:p>
          <a:p/>
          <a:p>
            <a:r>
              <a:t>Grounding not truth   - "but it was right!" It was right by luck. Same process,</a:t>
            </a:r>
          </a:p>
          <a:p>
            <a:r>
              <a:t>                        different day, wrong answer.</a:t>
            </a:r>
          </a:p>
          <a:p>
            <a:r>
              <a:t>Confidence            - this is why it is dangerous rather than merely annoying.</a:t>
            </a:r>
          </a:p>
          <a:p>
            <a:r>
              <a:t>                        There is no tell.</a:t>
            </a:r>
          </a:p>
          <a:p>
            <a:r>
              <a:t>Not only facts        - this is the bridge to the next slide, where 7 of the 8</a:t>
            </a:r>
          </a:p>
          <a:p>
            <a:r>
              <a:t>                        classes are not about inventing facts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top four, they are 87% of everything.</a:t>
            </a:r>
          </a:p>
          <a:p/>
          <a:p>
            <a:r>
              <a:t>Fabrication 492   - the one everyone knows. Largest class, still under a third.</a:t>
            </a:r>
          </a:p>
          <a:p>
            <a:r>
              <a:t>Wrong method 433  - the model gets the right answer the slow way.</a:t>
            </a:r>
          </a:p>
          <a:p>
            <a:r>
              <a:t>Reinvention 274   - it rebuilds something that already existed.</a:t>
            </a:r>
          </a:p>
          <a:p>
            <a:r>
              <a:t>Behavioural 268   - it skips the steps it was told to take.</a:t>
            </a:r>
          </a:p>
          <a:p/>
          <a:p>
            <a:r>
              <a:t>The bottom four are small in count. Pipeline integrity has 6 types and 6 events,</a:t>
            </a:r>
          </a:p>
          <a:p>
            <a:r>
              <a:t>which mostly means those failures are hard to see, not that they are rare.</a:t>
            </a:r>
          </a:p>
          <a:p/>
          <a:p>
            <a:r>
              <a:t>If someone asks where the classes came from: they were not designed up front.</a:t>
            </a:r>
          </a:p>
          <a:p>
            <a:r>
              <a:t>Each was named the first time it happened, then detection was automated so it</a:t>
            </a:r>
          </a:p>
          <a:p>
            <a:r>
              <a:t>could be counted rather than remembered.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 table. Point at three rows.</a:t>
            </a:r>
          </a:p>
          <a:p/>
          <a:p>
            <a:r>
              <a:t>computational naivety, 394   - the single most common failure in the whole</a:t>
            </a:r>
          </a:p>
          <a:p>
            <a:r>
              <a:t>                               record, and nothing it produced was false. It</a:t>
            </a:r>
          </a:p>
          <a:p>
            <a:r>
              <a:t>                               used a slow method when a fast one existed.</a:t>
            </a:r>
          </a:p>
          <a:p>
            <a:r>
              <a:t>tool reinvention, 230        - second most common. It wrote new code to do a job</a:t>
            </a:r>
          </a:p>
          <a:p>
            <a:r>
              <a:t>                               an existing tool already did.</a:t>
            </a:r>
          </a:p>
          <a:p>
            <a:r>
              <a:t>schema + path hallucination  - 334 between them. Querying columns that do not</a:t>
            </a:r>
          </a:p>
          <a:p>
            <a:r>
              <a:t>                               exist, referencing files that are not there.</a:t>
            </a:r>
          </a:p>
          <a:p>
            <a:r>
              <a:t>                               These are the most confirmable failures we have,</a:t>
            </a:r>
          </a:p>
          <a:p>
            <a:r>
              <a:t>                               because a path either exists or it does not.</a:t>
            </a:r>
          </a:p>
          <a:p/>
          <a:p>
            <a:r>
              <a:t>The point to land: the top two are not fabrication.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on the three, then open the floor.</a:t>
            </a:r>
          </a:p>
          <a:p/>
          <a:p>
            <a:r>
              <a:t>If there is time and appetite, the four open questions are:</a:t>
            </a:r>
          </a:p>
          <a:p>
            <a:r>
              <a:t>  1. Does naming a failure reduce it? We can measure this: the record has the</a:t>
            </a:r>
          </a:p>
          <a:p>
            <a:r>
              <a:t>     date each type was named and the date each mitigation landed.</a:t>
            </a:r>
          </a:p>
          <a:p>
            <a:r>
              <a:t>  2. Which are worth mitigating? 394 cheap events may matter less than 7 that</a:t>
            </a:r>
          </a:p>
          <a:p>
            <a:r>
              <a:t>     silently corrupt a result.</a:t>
            </a:r>
          </a:p>
          <a:p>
            <a:r>
              <a:t>  3. Can a model detect its own hallucinations in flight? After the fact in a</a:t>
            </a:r>
          </a:p>
          <a:p>
            <a:r>
              <a:t>     transcript, yes, for several types. At the moment of production, no.</a:t>
            </a:r>
          </a:p>
          <a:p>
            <a:r>
              <a:t>  4. How much of this transfers beyond one project? Nobody has run that.</a:t>
            </a:r>
          </a:p>
          <a:p/>
          <a:p>
            <a:r>
              <a:t>Caveat to offer if challenged: this is one project's sessions, research</a:t>
            </a:r>
          </a:p>
          <a:p>
            <a:r>
              <a:t>engineering work. Treat the classes as portable and the percentages as local.</a:t>
            </a:r>
          </a:p>
          <a:p>
            <a:r>
              <a:t>Every count is a floor, since it counts what we detected.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this for the question "so what does it actually look like?"</a:t>
            </a:r>
          </a:p>
          <a:p/>
          <a:p>
            <a:r>
              <a:t>Colour is the class. The two longest bars are purple and orange, wrong method</a:t>
            </a:r>
          </a:p>
          <a:p>
            <a:r>
              <a:t>and reinvention. Red, fabrication, does not appear until third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AI Hallucinations Actually Are</a:t>
            </a:r>
          </a:p>
          <a:p>
            <a:pPr algn="l">
              <a:spcAft>
                <a:spcPts val="0"/>
              </a:spcAft>
              <a:defRPr sz="1900" b="0">
                <a:solidFill>
                  <a:srgbClr val="93C5FD"/>
                </a:solidFill>
                <a:latin typeface="Calibri"/>
              </a:defRPr>
            </a:pPr>
            <a:r>
              <a:t>8 classes, 51 types, 1,690 measured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017520"/>
            <a:ext cx="10515600" cy="137160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200400"/>
            <a:ext cx="9875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100" b="1">
                <a:solidFill>
                  <a:srgbClr val="111827"/>
                </a:solidFill>
                <a:latin typeface="Calibri"/>
              </a:defRPr>
            </a:pPr>
            <a:r>
              <a:t>You probably think it means the AI makes things up.</a:t>
            </a:r>
          </a:p>
          <a:p>
            <a:pPr algn="l">
              <a:spcAft>
                <a:spcPts val="0"/>
              </a:spcAft>
              <a:defRPr sz="2100" b="1">
                <a:solidFill>
                  <a:srgbClr val="B91C1C"/>
                </a:solidFill>
                <a:latin typeface="Calibri"/>
              </a:defRPr>
            </a:pPr>
            <a:r>
              <a:t>In 1,690 measured failures, that was 29% of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A 5-minute orientation, not a full treatment.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Johnny Morgan   ·   University of Maryland, Baltimore County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91C1C"/>
                </a:solidFill>
                <a:latin typeface="Calibri"/>
              </a:defRPr>
            </a:pPr>
            <a:r>
              <a:t>THE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What a hallucination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332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11827"/>
                </a:solidFill>
                <a:latin typeface="Calibri"/>
              </a:defRPr>
            </a:pPr>
            <a:r>
              <a:t>Output the model presents with confidence that is not grounded in anything real:</a:t>
            </a:r>
          </a:p>
          <a:p>
            <a:pPr algn="l">
              <a:spcAft>
                <a:spcPts val="0"/>
              </a:spcAft>
              <a:defRPr sz="1800" b="1">
                <a:solidFill>
                  <a:srgbClr val="111827"/>
                </a:solidFill>
                <a:latin typeface="Calibri"/>
              </a:defRPr>
            </a:pPr>
            <a:r>
              <a:t>not in the data it was given, not in the tools it has, not in what actually happened.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11880"/>
            <a:ext cx="82296" cy="7498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575304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11827"/>
                </a:solidFill>
                <a:latin typeface="Calibri"/>
              </a:defRPr>
            </a:pPr>
            <a:r>
              <a:t>It is about grounding, not truth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6B7280"/>
                </a:solidFill>
                <a:latin typeface="Calibri"/>
              </a:defRPr>
            </a:pPr>
            <a:r>
              <a:t>A model can be right by accident, having checked nothing. The process that produced it will be wrong next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507992"/>
            <a:ext cx="82296" cy="7498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471416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11827"/>
                </a:solidFill>
                <a:latin typeface="Calibri"/>
              </a:defRPr>
            </a:pPr>
            <a:r>
              <a:t>It is about confidence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6B7280"/>
                </a:solidFill>
                <a:latin typeface="Calibri"/>
              </a:defRPr>
            </a:pPr>
            <a:r>
              <a:t>It sounds the same whether it verified or guessed. That is why the failure is invisible where you would catch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404104"/>
            <a:ext cx="82296" cy="74980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36752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11827"/>
                </a:solidFill>
                <a:latin typeface="Calibri"/>
              </a:defRPr>
            </a:pPr>
            <a:r>
              <a:t>It is not only about facts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6B7280"/>
                </a:solidFill>
                <a:latin typeface="Calibri"/>
              </a:defRPr>
            </a:pPr>
            <a:r>
              <a:t>Saying a job is done when it is not, or rebuilding a tool that exists, is the same failure wearing different clothes.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The 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WHAT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The 8 classes we found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Discovered by measuring real working sessions, not by theorising</a:t>
            </a:r>
          </a:p>
        </p:txBody>
      </p:sp>
      <p:pic>
        <p:nvPicPr>
          <p:cNvPr id="5" name="Picture 4" descr="fig2_eight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31" y="1874519"/>
            <a:ext cx="10463833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The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D28D9"/>
                </a:solidFill>
                <a:latin typeface="Calibri"/>
              </a:defRPr>
            </a:pPr>
            <a:r>
              <a:t>THE BREAKOUT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The types inside each class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All 51 are named and defined. The most frequent are shown here.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10881360" cy="384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22960"/>
                <a:gridCol w="914400"/>
                <a:gridCol w="7315200"/>
              </a:tblGrid>
              <a:tr h="4267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Events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 ones you would recognise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67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Fabrication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schema hallucination (172),  path hallucination (162)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Wrong method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433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computational naivety (394),  redundant recomputation (17)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67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Reinvention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tool reinvention (230),  code reinvention (42)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Behavioural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268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skipped verification (87),  monitoring loop (74)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67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Memory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narrative smoothing (72),  error inflation (58)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architecture ignored (20),  architecture unknown (7)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67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Stale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stale ephemeral state (10),  stale data citation (4)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Pipeline integrity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index misalignment (5),  label miscount (1)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The breakout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Three things to take 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57400"/>
            <a:ext cx="457200" cy="56692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12264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1168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11827"/>
                </a:solidFill>
                <a:latin typeface="Calibri"/>
              </a:defRPr>
            </a:pPr>
            <a:r>
              <a:t>It is not mostly making things up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6B7280"/>
                </a:solidFill>
                <a:latin typeface="Calibri"/>
              </a:defRPr>
            </a:pPr>
            <a:r>
              <a:t>Fabrication is 29% of measured events. A programme that addresses only fabrication addresses under a third of the problem while reporting that hallucination is solved.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91840"/>
            <a:ext cx="457200" cy="56692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46704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24612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11827"/>
                </a:solidFill>
                <a:latin typeface="Calibri"/>
              </a:defRPr>
            </a:pPr>
            <a:r>
              <a:t>The most common failure costs time, not truth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6B7280"/>
                </a:solidFill>
                <a:latin typeface="Calibri"/>
              </a:defRPr>
            </a:pPr>
            <a:r>
              <a:t>The single largest type produced nothing false. It did the work the slow way. That will not show up in any accuracy metric.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526280"/>
            <a:ext cx="457200" cy="56692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81144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4805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11827"/>
                </a:solidFill>
                <a:latin typeface="Calibri"/>
              </a:defRPr>
            </a:pPr>
            <a:r>
              <a:t>Naming a failure is the cheap part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6B7280"/>
                </a:solidFill>
                <a:latin typeface="Calibri"/>
              </a:defRPr>
            </a:pPr>
            <a:r>
              <a:t>All 51 types are named. 30 have a mitigation aimed at them. Detecting, reducing, and proving the reduction get harder in that order.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559552"/>
            <a:ext cx="10515600" cy="69494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650992"/>
            <a:ext cx="9966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350" b="1">
                <a:solidFill>
                  <a:srgbClr val="111827"/>
                </a:solidFill>
                <a:latin typeface="Calibri"/>
              </a:defRPr>
            </a:pPr>
            <a:r>
              <a:t>Where a deeper session goes: does naming reduce it, which ones are worth fixing, and can a model catch itself in flight?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Takeaways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B7280"/>
                </a:solidFill>
                <a:latin typeface="Calibri"/>
              </a:defRPr>
            </a:pPr>
            <a: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Backup: the most frequent types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Not part of the 5-slide talk. Delete or keep for questions.</a:t>
            </a:r>
          </a:p>
        </p:txBody>
      </p:sp>
      <p:pic>
        <p:nvPicPr>
          <p:cNvPr id="5" name="Picture 4" descr="fig3_type_brea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708" y="1874519"/>
            <a:ext cx="9702278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Backup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
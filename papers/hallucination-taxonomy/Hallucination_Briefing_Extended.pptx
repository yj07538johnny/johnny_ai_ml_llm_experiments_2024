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an orientation, not a safety talk and not a literature</a:t>
            </a:r>
          </a:p>
          <a:p>
            <a:r>
              <a:t>review. It is what came out of instrumenting real work.</a:t>
            </a:r>
          </a:p>
          <a:p/>
          <a:p>
            <a:r>
              <a:t>The hook is the 29% number. Everyone walks in thinking hallucination means</a:t>
            </a:r>
          </a:p>
          <a:p>
            <a:r>
              <a:t>invented facts. That is the smallest part of what actually goes wrong.</a:t>
            </a:r>
          </a:p>
          <a:p/>
          <a:p>
            <a:r>
              <a:t>Three parts. Taxonomy first because the observations need the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boxed definition. It is the only definition in the talk.</a:t>
            </a:r>
          </a:p>
          <a:p/>
          <a:p>
            <a:r>
              <a:t>The middle point is the one that matters for a work setting. If unverified output</a:t>
            </a:r>
          </a:p>
          <a:p>
            <a:r>
              <a:t>carried an audible hedge this would be a much smaller problem. It does not. The</a:t>
            </a:r>
          </a:p>
          <a:p>
            <a:r>
              <a:t>failure is invisible exactly where a reviewer would otherwise catch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top four; they are 87% of everything.</a:t>
            </a:r>
          </a:p>
          <a:p/>
          <a:p>
            <a:r>
              <a:t>Fabrication is the one everyone knows, largest class, still under a third.</a:t>
            </a:r>
          </a:p>
          <a:p>
            <a:r>
              <a:t>Wrong method, reinvention and behavioural together outweigh it two to one.</a:t>
            </a:r>
          </a:p>
          <a:p/>
          <a:p>
            <a:r>
              <a:t>None of the bottom four are small because they are rare. Pipeline integrity has</a:t>
            </a:r>
          </a:p>
          <a:p>
            <a:r>
              <a:t>six types and six events, which mostly means those failures are hard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table. Point at three rows.</a:t>
            </a:r>
          </a:p>
          <a:p/>
          <a:p>
            <a:r>
              <a:t>computational naivety 394  - the most common failure in the record, and it</a:t>
            </a:r>
          </a:p>
          <a:p>
            <a:r>
              <a:t>                             produced nothing false. It used a slow method.</a:t>
            </a:r>
          </a:p>
          <a:p>
            <a:r>
              <a:t>tool reinvention 230       - wrote new code for a job an existing tool did.</a:t>
            </a:r>
          </a:p>
          <a:p>
            <a:r>
              <a:t>schema + path 334 together - queried columns that do not exist, referenced files</a:t>
            </a:r>
          </a:p>
          <a:p>
            <a:r>
              <a:t>                             that are not there.</a:t>
            </a:r>
          </a:p>
          <a:p/>
          <a:p>
            <a:r>
              <a:t>The top two are not fabrication. That is the whole point of part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Part 1 was the catalogue. Part 2 is what the catalogue taught me</a:t>
            </a:r>
          </a:p>
          <a:p>
            <a:r>
              <a:t>about actually working with these systems.</a:t>
            </a:r>
          </a:p>
          <a:p/>
          <a:p>
            <a:r>
              <a:t>Each of these is written up formally in the project's theory registry, so the</a:t>
            </a:r>
          </a:p>
          <a:p>
            <a:r>
              <a:t>identifier is on each slide if anyone wants the long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useful thing in the talk for anyone who supervises AI output.</a:t>
            </a:r>
          </a:p>
          <a:p/>
          <a:p>
            <a:r>
              <a:t>The instinct when a model is wrong is to push back harder. That is exactly the</a:t>
            </a:r>
          </a:p>
          <a:p>
            <a:r>
              <a:t>input that produces this. The fabrication is not stubbornness; it is the model</a:t>
            </a:r>
          </a:p>
          <a:p>
            <a:r>
              <a:t>resolving an inconsistency in the direction that preserves its prior answer.</a:t>
            </a:r>
          </a:p>
          <a:p/>
          <a:p>
            <a:r>
              <a:t>What works better: do not argue with it. Start a fresh session and ask the</a:t>
            </a:r>
          </a:p>
          <a:p>
            <a:r>
              <a:t>question differently. You are not persuading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read: corrections are a budget, not an unlimited resource.</a:t>
            </a:r>
          </a:p>
          <a:p/>
          <a:p>
            <a:r>
              <a:t>If you have corrected the same behaviour several times and it is still recurring,</a:t>
            </a:r>
          </a:p>
          <a:p>
            <a:r>
              <a:t>more corrections are not the answer. End the session. The next one starts from</a:t>
            </a:r>
          </a:p>
          <a:p>
            <a:r>
              <a:t>defaults again, which is its own problem, and is the next slide.</a:t>
            </a:r>
          </a:p>
          <a:p/>
          <a:p>
            <a:r>
              <a:t>Related type in the taxonomy: tool_preference_persistence, defined as reverting</a:t>
            </a:r>
          </a:p>
          <a:p>
            <a:r>
              <a:t>to a familiar tool after three or more corrections in the same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explains something people find genuinely maddening: why the same failure</a:t>
            </a:r>
          </a:p>
          <a:p>
            <a:r>
              <a:t>recurs after you have corrected it many times.</a:t>
            </a:r>
          </a:p>
          <a:p/>
          <a:p>
            <a:r>
              <a:t>You are accumulating evidence about its reliability across every session. It is</a:t>
            </a:r>
          </a:p>
          <a:p>
            <a:r>
              <a:t>starting from zero in each one. The consequence signal that would normally</a:t>
            </a:r>
          </a:p>
          <a:p>
            <a:r>
              <a:t>constrain the behaviour never reaches it.</a:t>
            </a:r>
          </a:p>
          <a:p/>
          <a:p>
            <a:r>
              <a:t>Say the uncomfortable part plainly: it is not deceiving you. Deception requires</a:t>
            </a:r>
          </a:p>
          <a:p>
            <a:r>
              <a:t>modelling what you believe. It optimises each exchange for approval with no</a:t>
            </a:r>
          </a:p>
          <a:p>
            <a:r>
              <a:t>representation of the accumulated pattern, and the local optimisation is what</a:t>
            </a:r>
          </a:p>
          <a:p>
            <a:r>
              <a:t>erodes the thing it is trying to protect.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justifies review effort to a manager.</a:t>
            </a:r>
          </a:p>
          <a:p/>
          <a:p>
            <a:r>
              <a:t>Catching it before you act costs a correction. Catching it after the work has</a:t>
            </a:r>
          </a:p>
          <a:p>
            <a:r>
              <a:t>been built on costs reconstruction. Not catching it means it keeps propagating</a:t>
            </a:r>
          </a:p>
          <a:p>
            <a:r>
              <a:t>into everything downstream and starts recruiting supporting evidence.</a:t>
            </a:r>
          </a:p>
          <a:p/>
          <a:p>
            <a:r>
              <a:t>The operational consequence: verification effort is worth most at the earliest</a:t>
            </a:r>
          </a:p>
          <a:p>
            <a:r>
              <a:t>point, and almost worthless late. Front-load the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across the instrumented sessions: zero self-initiated recoveries. Every</a:t>
            </a:r>
          </a:p>
          <a:p>
            <a:r>
              <a:t>single escape came from a human message.</a:t>
            </a:r>
          </a:p>
          <a:p/>
          <a:p>
            <a:r>
              <a:t>The practical version for a work setting: never hand a model a multi-stage job</a:t>
            </a:r>
          </a:p>
          <a:p>
            <a:r>
              <a:t>and walk away expecting stage four. It will do stage one, write a good report,</a:t>
            </a:r>
          </a:p>
          <a:p>
            <a:r>
              <a:t>and wait. The report reads like success.</a:t>
            </a:r>
          </a:p>
          <a:p/>
          <a:p>
            <a:r>
              <a:t>If someone asks whether newer models fix this: unknown, and worth measuring</a:t>
            </a:r>
          </a:p>
          <a:p>
            <a:r>
              <a:t>rather than assuming.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session runs long, the model summarises its own history and works from the</a:t>
            </a:r>
          </a:p>
          <a:p>
            <a:r>
              <a:t>summary. We audited 337 of those against the transcripts they replaced.</a:t>
            </a:r>
          </a:p>
          <a:p/>
          <a:p>
            <a:r>
              <a:t>Average preservation 56%. But look at the ordering, which is the finding.</a:t>
            </a:r>
          </a:p>
          <a:p/>
          <a:p>
            <a:r>
              <a:t>Commit hashes 99.7%: a literal string, matches or does not.</a:t>
            </a:r>
          </a:p>
          <a:p>
            <a:r>
              <a:t>What went wrong 32%: requires judging what counted as an error.</a:t>
            </a:r>
          </a:p>
          <a:p/>
          <a:p>
            <a:r>
              <a:t>Literal tokens survive. Interpretation does not. So after a long session the model</a:t>
            </a:r>
          </a:p>
          <a:p>
            <a:r>
              <a:t>is most reliable about the things you could have looked up yourself, and least</a:t>
            </a:r>
          </a:p>
          <a:p>
            <a:r>
              <a:t>reliable about the things you would actually ask it.</a:t>
            </a:r>
          </a:p>
          <a:p/>
          <a:p>
            <a:r>
              <a:t>Zero fabrication in any of them. It loses and reshapes; it does not invent.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 slide. It is the most convincing thing in the deck.</a:t>
            </a:r>
          </a:p>
          <a:p/>
          <a:p>
            <a:r>
              <a:t>Everything on it happened while producing these materials, and each item maps to</a:t>
            </a:r>
          </a:p>
          <a:p>
            <a:r>
              <a:t>a named type in the taxonomy on slide 4.</a:t>
            </a:r>
          </a:p>
          <a:p/>
          <a:p>
            <a:r>
              <a:t>The point is not that the tool is bad. The point is that these failures are</a:t>
            </a:r>
          </a:p>
          <a:p>
            <a:r>
              <a:t>ordinary, they happen during competent productive work, and they are invisible</a:t>
            </a:r>
          </a:p>
          <a:p>
            <a:r>
              <a:t>unless something is watching for them.</a:t>
            </a:r>
          </a:p>
          <a:p/>
          <a:p>
            <a:r>
              <a:t>If anyone asks how it was caught: the numbers were checked against the source</a:t>
            </a:r>
          </a:p>
          <a:p>
            <a:r>
              <a:t>data, and the check is what surfaced them. That is the whole method in one</a:t>
            </a:r>
          </a:p>
          <a:p>
            <a:r>
              <a:t>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five that generalise beyond this project.</a:t>
            </a:r>
          </a:p>
          <a:p/>
          <a:p>
            <a:r>
              <a:t>Number 2 surprises people the most and is worth dwelling on. The instinct to</a:t>
            </a:r>
          </a:p>
          <a:p>
            <a:r>
              <a:t>argue with a wrong answer is exactly the input that generates a defended wrong</a:t>
            </a:r>
          </a:p>
          <a:p>
            <a:r>
              <a:t>answer.</a:t>
            </a:r>
          </a:p>
          <a:p/>
          <a:p>
            <a:r>
              <a:t>Number 5 is the one that changes how people write things down. If you want a</a:t>
            </a:r>
          </a:p>
          <a:p>
            <a:r>
              <a:t>detail to survive a long session, give it an identifier rather than describing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 and open the floor.</a:t>
            </a:r>
          </a:p>
          <a:p/>
          <a:p>
            <a:r>
              <a:t>The caveat at the bottom is not modesty, it is the actual scope. These are</a:t>
            </a:r>
          </a:p>
          <a:p>
            <a:r>
              <a:t>sessions of research engineering with one assistant. The classes should</a:t>
            </a:r>
          </a:p>
          <a:p>
            <a:r>
              <a:t>generalise; the proportions almost certainly will not.</a:t>
            </a:r>
          </a:p>
          <a:p/>
          <a:p>
            <a:r>
              <a:t>If there is one question you want back from the room, it is the last one: does</a:t>
            </a:r>
          </a:p>
          <a:p>
            <a:r>
              <a:t>this match what they see in their own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Hallucinations in Generative AI</a:t>
            </a:r>
          </a:p>
          <a:p>
            <a:pPr algn="l">
              <a:spcAft>
                <a:spcPts val="0"/>
              </a:spcAft>
              <a:defRPr sz="1800" b="0">
                <a:solidFill>
                  <a:srgbClr val="93C5FD"/>
                </a:solidFill>
                <a:latin typeface="Calibri"/>
              </a:defRPr>
            </a:pPr>
            <a:r>
              <a:t>What eight classes and fifty-one types look like when you work with these models every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71800"/>
            <a:ext cx="1051560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127248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11827"/>
                </a:solidFill>
                <a:latin typeface="Calibri"/>
              </a:defRPr>
            </a:pPr>
            <a:r>
              <a:t>You probably think it means the model makes things up.</a:t>
            </a:r>
          </a:p>
          <a:p>
            <a:pPr algn="l">
              <a:spcAft>
                <a:spcPts val="0"/>
              </a:spcAft>
              <a:defRPr sz="2000" b="1">
                <a:solidFill>
                  <a:srgbClr val="B91C1C"/>
                </a:solidFill>
                <a:latin typeface="Calibri"/>
              </a:defRPr>
            </a:pPr>
            <a:r>
              <a:t>Across 1,690 measured failures, that was 29%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50" b="0">
                <a:solidFill>
                  <a:srgbClr val="6B7280"/>
                </a:solidFill>
                <a:latin typeface="Calibri"/>
              </a:defRPr>
            </a:pPr>
            <a:r>
              <a:t>Part 1: the taxonomy.   Part 2: six things I have observed.   Part 3: what to do about it.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Johnny Morgan   ·   University of Maryland, Baltimore County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PART 1: THE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a hallucination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Output the model presents with confidence that is not grounded in anything real:</a:t>
            </a:r>
          </a:p>
          <a:p>
            <a:pPr algn="l">
              <a:spcAft>
                <a:spcPts val="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not in the data it was given, not in the tools it has, not in what actually happened.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82296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It is about grounding, not truth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 model can be right by accident, having checked nothing. The process that produced it will be wrong next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61688"/>
            <a:ext cx="82296" cy="786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It is about confidence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It sounds identical whether it verified or guessed. There is no tell, which is why this is dangerous rather than merely annoying.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94376"/>
            <a:ext cx="82296" cy="78638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248656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It is not only about facts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Saying a job is done when it is not, or rebuilding a tool that already exists, is the same failure wearing different clothes.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Part 1: the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PART 1: THE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8 classes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Discovered by measuring real sessions, not by theorising about what a model might do</a:t>
            </a:r>
          </a:p>
        </p:txBody>
      </p:sp>
      <p:pic>
        <p:nvPicPr>
          <p:cNvPr id="5" name="Picture 4" descr="fig2_eight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31" y="1874519"/>
            <a:ext cx="10463833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Part 1: the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D28D9"/>
                </a:solidFill>
                <a:latin typeface="Calibri"/>
              </a:defRPr>
            </a:pPr>
            <a:r>
              <a:t>PART 1: THE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types inside each class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All 51 are named and defined. The most frequent are shown here.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38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914400"/>
                <a:gridCol w="7315200"/>
              </a:tblGrid>
              <a:tr h="4267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 ones you would recognise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Fabrication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schema hallucination (172),  path hallucination (162)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Wrong method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433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computational naivety (394),  redundant recomputation (17)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Reinvention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tool reinvention (230),  code reinvention (42)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Behavioural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skipped verification (87),  monitoring loop (74)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Memory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narrative smoothing (72),  error inflation (58)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architecture ignored (20),  architecture unknown (7)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Stale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stale ephemeral state (10),  stale data citation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Pipeline integrity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index misalignment (5),  label miscount (1)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Part 1: the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DE68A"/>
                </a:solidFill>
                <a:latin typeface="Calibri"/>
              </a:defRPr>
            </a:pPr>
            <a:r>
              <a:t>Part 2</a:t>
            </a:r>
          </a:p>
          <a:p>
            <a:pPr algn="l">
              <a:spcAft>
                <a:spcPts val="10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Six things I have observed</a:t>
            </a:r>
          </a:p>
          <a:p>
            <a:pPr algn="l">
              <a:spcAft>
                <a:spcPts val="0"/>
              </a:spcAft>
              <a:defRPr sz="1900" b="0">
                <a:solidFill>
                  <a:srgbClr val="FDE68A"/>
                </a:solidFill>
                <a:latin typeface="Calibri"/>
              </a:defRPr>
            </a:pPr>
            <a:r>
              <a:t>Working with these models daily for nine months, with every session recorded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OBSERVATION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Correcting it can make it worse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9326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02536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When you correct a model, it may invent a reason its original answer was right, rather than change its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6265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B91C1C"/>
                </a:solidFill>
                <a:latin typeface="Calibri"/>
              </a:defRPr>
            </a:pPr>
            <a:r>
              <a:t>T131  Cascading Defensive Fabrication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01568"/>
            <a:ext cx="82296" cy="78638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5584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The fabrication defends the mistake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It produces a constraint that would have justified what it did. That constraint is not real, and now it has to be defended too.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34256"/>
            <a:ext cx="82296" cy="78638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88536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It compounds with each round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Every defence becomes a new commitment. Push three times and you are arguing with a structure that did not exist four turns ago.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266944"/>
            <a:ext cx="82296" cy="78638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21224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The trigger is your correction, not model load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This does not come from a long session or a hard problem. It comes from being told it was wrong.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Observation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OBSERVATION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Corrections stop working after a while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9326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02536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Repeated correction inside one session follows a curve: it works, then it keeps working, then it stops mattering.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6265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B45309"/>
                </a:solidFill>
                <a:latin typeface="Calibri"/>
              </a:defRPr>
            </a:pPr>
            <a:r>
              <a:t>T135  Within-Session Behavioural Saturation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01568"/>
            <a:ext cx="82296" cy="786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5584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Phase 1, it does what it was trained to do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Whatever its defaults are, that is what you get before you intervene.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34256"/>
            <a:ext cx="82296" cy="786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88536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Phase 2, your corrections land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Rejections inside the session function as a signal, and behaviour shifts.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266944"/>
            <a:ext cx="82296" cy="786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21224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Phase 3, more corrections change nothing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Past a threshold, additional corrections produce no further change. If you are on your sixth correction of the same thing, the session is spent.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Observation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D28D9"/>
                </a:solidFill>
                <a:latin typeface="Calibri"/>
              </a:defRPr>
            </a:pPr>
            <a:r>
              <a:t>OBSERVATION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It cannot keep score. You can.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T143 Session Discontinuity as Causal Amplifier  ·  T144 Social Consequence Blindness</a:t>
            </a:r>
          </a:p>
        </p:txBody>
      </p:sp>
      <p:pic>
        <p:nvPicPr>
          <p:cNvPr id="5" name="Picture 4" descr="fig6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610" y="1965960"/>
            <a:ext cx="7856475" cy="3520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577840"/>
            <a:ext cx="10515600" cy="694944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669280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The behaviours it uses to look competent are the ones that cost it your trust. It has no way to represent that trade.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Observation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OBSERVATION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it costs depends on when you catch it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T146  Hallucination Consequence and Recovery</a:t>
            </a:r>
          </a:p>
        </p:txBody>
      </p:sp>
      <p:pic>
        <p:nvPicPr>
          <p:cNvPr id="5" name="Picture 4" descr="fig5_recovery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579" y="1965960"/>
            <a:ext cx="8182537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715000"/>
            <a:ext cx="9966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The undetected case is not the expensive end of a scale. It is a different kind of thing, because nothing stops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Observation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OBSERVATION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It does not get itself unstuck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9326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02536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Across every instance we measured of the model stalling, the number of times it recovered on its own was zero. A human turn paid for every exit.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6265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2563EB"/>
                </a:solidFill>
                <a:latin typeface="Calibri"/>
              </a:defRPr>
            </a:pPr>
            <a:r>
              <a:t>T160  Persona Basin Absorption  ·  T162  Endogenous Trigger Absence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01568"/>
            <a:ext cx="82296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5584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Stalling looks like completion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It writes a competent summary of what it just did and stops. Nothing signals that it intended to continue and did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34256"/>
            <a:ext cx="82296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88536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It will name the next step and not take it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The final message often says what should happen next. That sentence is not a commitment; it is where the work stopped.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266944"/>
            <a:ext cx="82296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21224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Assume you are the scheduler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If a task has several stages, do not expect it to run them because it knows they exist. It needs a turn per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Observation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47857"/>
                </a:solidFill>
                <a:latin typeface="Calibri"/>
              </a:defRPr>
            </a:pPr>
            <a:r>
              <a:t>OBSERVATION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It forgets its own work, and what it forgets is predictable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337 audited summaries: what survives compression against what does not</a:t>
            </a:r>
          </a:p>
        </p:txBody>
      </p:sp>
      <p:pic>
        <p:nvPicPr>
          <p:cNvPr id="5" name="Picture 4" descr="fig2_fidelit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28" y="1874519"/>
            <a:ext cx="931303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Observation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OBSERVATION, UNAVOIDABLE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This briefing is evidence for its own subject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914400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02536"/>
            <a:ext cx="102412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A generative model helped build these slides, and building them produced the failures they describe.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17520"/>
            <a:ext cx="82296" cy="6583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62656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450" b="1">
                <a:solidFill>
                  <a:srgbClr val="111827"/>
                </a:solidFill>
                <a:latin typeface="Calibri"/>
              </a:defRPr>
            </a:pPr>
            <a:r>
              <a:t>It re-derived numbers that were already settled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Recomputed and re-flagged the same counts across several turns, rather than accepting a known and documented state. Type: foundational_rederivation.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13048"/>
            <a:ext cx="82296" cy="6583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58184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450" b="1">
                <a:solidFill>
                  <a:srgbClr val="111827"/>
                </a:solidFill>
                <a:latin typeface="Calibri"/>
              </a:defRPr>
            </a:pPr>
            <a:r>
              <a:t>It cited stale documentation as current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Quoted figures from project notes that the underlying data had moved past. Type: stale_data_citation.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08576"/>
            <a:ext cx="82296" cy="6583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53712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450" b="1">
                <a:solidFill>
                  <a:srgbClr val="111827"/>
                </a:solidFill>
                <a:latin typeface="Calibri"/>
              </a:defRPr>
            </a:pPr>
            <a:r>
              <a:t>It built something nobody asked for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Produced a full demo on synthetic data when the request was a paper and a deck. Types: scope_inflation, unsolicited_development.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04104"/>
            <a:ext cx="82296" cy="6583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450" b="1">
                <a:solidFill>
                  <a:srgbClr val="111827"/>
                </a:solidFill>
                <a:latin typeface="Calibri"/>
              </a:defRPr>
            </a:pPr>
            <a:r>
              <a:t>It shipped a test it had not re-run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Changed a function, did not re-run the suite, and left a stale assertion behind. Type: skipped_verification.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309360"/>
            <a:ext cx="10515600" cy="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91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to do in a work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420624" cy="5486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206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96596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Verify early, not thoroughly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Cost scales with how late you catch it. A shallow check before you act beats a deep review afterwards.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420624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206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8892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Do not argue with it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Pushing back can produce a fabricated justification instead of a correction. Start a fresh session and ask differently.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420624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4206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8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Treat a confident summary as a claim, not a result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It sounds the same whether it checked or not, and it will report a job complete that is partly done.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480560"/>
            <a:ext cx="420624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4206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3484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Assume you are the scheduler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It will do a stage, write a good report, and stop. Multi-stage work needs a turn per stage.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03520"/>
            <a:ext cx="420624" cy="5486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4206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5780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Anything that must survive should be a literal token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Identifiers, paths and exact error text survive compression at 99.7%. Prose summaries of what happened survive at about a third.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199632"/>
            <a:ext cx="10515600" cy="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What 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B7280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Where a deeper session goes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Open questions, in the order I would take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82296" cy="8412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Does naming a failure reduce it?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The record has the date each type was named and the date each mitigation landed, so this is measurable rather than a matter of opinion. Some types were suppressed. Others recurred regardless.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44952"/>
            <a:ext cx="82296" cy="8412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Which failures are worth mitigating?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 type with 394 events costing seconds each may matter less than one with 7 that silently corrupts a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32504"/>
            <a:ext cx="82296" cy="8412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86784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Can a model catch itself in flight?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After the fact in a transcript, yes, for several types. At the moment of production, not yet demonstrated.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20056"/>
            <a:ext cx="82296" cy="8412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74336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How much of this transfers?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Eight classes from one project doing one kind of work. Whether they cover generative AI failure generally is an empirical question nobody has run.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603504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11827"/>
                </a:solidFill>
                <a:latin typeface="Calibri"/>
              </a:defRPr>
            </a:pPr>
            <a:r>
              <a:t>One project, research engineering work. Treat the classes as portable and the percentages as local.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
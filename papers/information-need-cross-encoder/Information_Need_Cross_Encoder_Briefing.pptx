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frame. Two datasets, one function to learn. The whole talk turns on a</a:t>
            </a:r>
          </a:p>
          <a:p>
            <a:r>
              <a:t>single design decision: we put the label on the PAIR, not on the text. Everything</a:t>
            </a:r>
          </a:p>
          <a:p>
            <a:r>
              <a:t>else follows from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shapes out loud. 20,000 reports, 1,000+ needs, 20 million candidate</a:t>
            </a:r>
          </a:p>
          <a:p>
            <a:r>
              <a:t>pairs of which roughly 0.15% carry a citation.</a:t>
            </a:r>
          </a:p>
          <a:p/>
          <a:p>
            <a:r>
              <a:t>The second half of the goal is the one that drives the design. If we only wanted</a:t>
            </a:r>
          </a:p>
          <a:p>
            <a:r>
              <a:t>to reproduce existing citations this would be a straightforward classifier. We</a:t>
            </a:r>
          </a:p>
          <a:p>
            <a:r>
              <a:t>want the pairs that are NOT in the citation record, and that changes what</a:t>
            </a:r>
          </a:p>
          <a:p>
            <a:r>
              <a:t>counts as 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fork in the road. The left column is what most people build and it</a:t>
            </a:r>
          </a:p>
          <a:p>
            <a:r>
              <a:t>is not wrong, it is just brittle in the one way that matters here: the need</a:t>
            </a:r>
          </a:p>
          <a:p>
            <a:r>
              <a:t>repository changes over time and a fixed output layer cannot follow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 on fundamentals. Skip if the room already has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it left to right. Data in, prediction out, loss measures how wrong, gradient</a:t>
            </a:r>
          </a:p>
          <a:p>
            <a:r>
              <a:t>says which direction fixes it, update moves the weights a little.</a:t>
            </a:r>
          </a:p>
          <a:p/>
          <a:p>
            <a:r>
              <a:t>The point to land: none of this is specific to transformers. Swap the blue box</a:t>
            </a:r>
          </a:p>
          <a:p>
            <a:r>
              <a:t>for logistic regression and the diagram is unchanged. That is why we can talk</a:t>
            </a:r>
          </a:p>
          <a:p>
            <a:r>
              <a:t>about the model separately from the training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split-by-text point is the one people get wrong and it is silent when they</a:t>
            </a:r>
          </a:p>
          <a:p>
            <a:r>
              <a:t>do. Nothing crashes. The number just comes out too good and the model</a:t>
            </a:r>
          </a:p>
          <a:p>
            <a:r>
              <a:t>disappoints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conceptual core. Slow down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"which of M classes is this text?" we ask, for each candidate,</a:t>
            </a:r>
          </a:p>
          <a:p>
            <a:r>
              <a:t>"does this text satisfy this need, yes or no?"</a:t>
            </a:r>
          </a:p>
          <a:p/>
          <a:p>
            <a:r>
              <a:t>The bottom box is method, not implementation detail. The sampling ratio is a</a:t>
            </a:r>
          </a:p>
          <a:p>
            <a:r>
              <a:t>modelling choice with consequences, and it is the first thing to 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fire, one does not. No softmax makes them compete, because each decision is</a:t>
            </a:r>
          </a:p>
          <a:p>
            <a:r>
              <a:t>independent. That is what multi-label means mechanically.</a:t>
            </a:r>
          </a:p>
          <a:p/>
          <a:p>
            <a:r>
              <a:t>IN-233 is the interesting row: it shares vocabulary (coastal, cities) but is</a:t>
            </a:r>
          </a:p>
          <a:p>
            <a:r>
              <a:t>about port throughput. That is precisely the kind of distractor hard negative</a:t>
            </a:r>
          </a:p>
          <a:p>
            <a:r>
              <a:t>mining exists to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important slide about the data.</a:t>
            </a:r>
          </a:p>
          <a:p/>
          <a:p>
            <a:r>
              <a:t>A citation was made by someone doing real work with real stakes, so it is a</a:t>
            </a:r>
          </a:p>
          <a:p>
            <a:r>
              <a:t>better positive than most annotation projects produce.</a:t>
            </a:r>
          </a:p>
          <a:p/>
          <a:p>
            <a:r>
              <a:t>But an uncited pair is three things at once: irrelevant, relevant-but-another-</a:t>
            </a:r>
          </a:p>
          <a:p>
            <a:r>
              <a:t>report-was-cited, or relevant-and-nobody-noticed. Nothing in the data separates</a:t>
            </a:r>
          </a:p>
          <a:p>
            <a:r>
              <a:t>them. That is positive-unlabeled learning.</a:t>
            </a:r>
          </a:p>
          <a:p/>
          <a:p>
            <a:r>
              <a:t>If asked "so how do we train without negatives?" the answer is the next slides:</a:t>
            </a:r>
          </a:p>
          <a:p>
            <a:r>
              <a:t>we sample assumed negatives, we are careful where we sample them, and we buy</a:t>
            </a:r>
          </a:p>
          <a:p>
            <a:r>
              <a:t>real negatives back through adjudication.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these slowly. Each one has a section in the paper.</a:t>
            </a:r>
          </a:p>
          <a:p/>
          <a:p>
            <a:r>
              <a:t>The middle one matters for how you report results to a sponsor. If someone asks</a:t>
            </a:r>
          </a:p>
          <a:p>
            <a:r>
              <a:t>why precision is 0.62, part of the answer is that some of those "false</a:t>
            </a:r>
          </a:p>
          <a:p>
            <a:r>
              <a:t>positives" are correct and the citation record has not caught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fields earn their place:</a:t>
            </a:r>
          </a:p>
          <a:p/>
          <a:p>
            <a:r>
              <a:t>cited_on   -&gt; lets you split by TIME. You will score future reports, so hold out</a:t>
            </a:r>
          </a:p>
          <a:p>
            <a:r>
              <a:t>              recent months and compare against the random split.</a:t>
            </a:r>
          </a:p>
          <a:p>
            <a:r>
              <a:t>cited_by   -&gt; lets you check the model learned a NEED and not an AUTHOR.</a:t>
            </a:r>
          </a:p>
          <a:p>
            <a:r>
              <a:t>opened_on  -&gt; lets you hold out needs opened after a date and test the whole</a:t>
            </a:r>
          </a:p>
          <a:p>
            <a:r>
              <a:t>              premise: can a justification alone classify against a need the</a:t>
            </a:r>
          </a:p>
          <a:p>
            <a:r>
              <a:t>              model never saw? If that fails, the cross-encoder is not worth</a:t>
            </a:r>
          </a:p>
          <a:p>
            <a:r>
              <a:t>              its cost.</a:t>
            </a:r>
          </a:p>
          <a:p>
            <a:r>
              <a:t>confidence -&gt; optional positive weighting. Start without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4:4 is a starting point, not a result.</a:t>
            </a:r>
          </a:p>
          <a:p/>
          <a:p>
            <a:r>
              <a:t>The bottom box is the PU problem biting. Three mitigations, cheapest first:</a:t>
            </a:r>
          </a:p>
          <a:p/>
          <a:p>
            <a:r>
              <a:t>1. Draw hard negatives from ranks 10-50, not 1-10. Genuine uncited relevance</a:t>
            </a:r>
          </a:p>
          <a:p>
            <a:r>
              <a:t>   concentrates at the very top. Costs nothing. Start here.</a:t>
            </a:r>
          </a:p>
          <a:p>
            <a:r>
              <a:t>2. Train hard negatives toward 0.1 instead of 0.0. Label smoothing on one class.</a:t>
            </a:r>
          </a:p>
          <a:p>
            <a:r>
              <a:t>   The model still ranks them below positives without being told they are</a:t>
            </a:r>
          </a:p>
          <a:p>
            <a:r>
              <a:t>   impossible.</a:t>
            </a:r>
          </a:p>
          <a:p>
            <a:r>
              <a:t>3. Feed adjudication back. A human-confirmed irrelevant pair is a negative you</a:t>
            </a:r>
          </a:p>
          <a:p>
            <a:r>
              <a:t>   actually know.</a:t>
            </a:r>
          </a:p>
          <a:p/>
          <a:p>
            <a:r>
              <a:t>Whichever you pick, WRITE IT DOWN. The negative sampling policy is the most</a:t>
            </a:r>
          </a:p>
          <a:p>
            <a:r>
              <a:t>consequential decision in the design and it is invisible in the trained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Mechanism section. Build to the attention matrix, which is the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soft-lookup intuition: the query says what this token is looking for, the key</a:t>
            </a:r>
          </a:p>
          <a:p>
            <a:r>
              <a:t>says what this token offers, the value is what it contributes if selected.</a:t>
            </a:r>
          </a:p>
          <a:p/>
          <a:p>
            <a:r>
              <a:t>The object to hold onto is Q K-transpose. It is n by n. Entry (i,j) is how much</a:t>
            </a:r>
          </a:p>
          <a:p>
            <a:r>
              <a:t>token i attends to token j. The next slide is entirely about the shape of that</a:t>
            </a:r>
          </a:p>
          <a:p>
            <a:r>
              <a:t>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centre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trick is that this is ONE sequence. Attention does not know or care</a:t>
            </a:r>
          </a:p>
          <a:p>
            <a:r>
              <a:t>that a boundary exists; it just attends over everything. The [SEP] and segment</a:t>
            </a:r>
          </a:p>
          <a:p>
            <a:r>
              <a:t>embeddings are how the model recovers the distinction it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slide. Give it time.</a:t>
            </a:r>
          </a:p>
          <a:p/>
          <a:p>
            <a:r>
              <a:t>Point at the dashed blocks. Everything above and left of the divider is one</a:t>
            </a:r>
          </a:p>
          <a:p>
            <a:r>
              <a:t>input, everything below and right is the other, and the off-diagonal blocks are</a:t>
            </a:r>
          </a:p>
          <a:p>
            <a:r>
              <a:t>tokens from one reading tokens from the other.</a:t>
            </a:r>
          </a:p>
          <a:p/>
          <a:p>
            <a:r>
              <a:t>If someone asks whether the attention weights are real: these are illustrative,</a:t>
            </a:r>
          </a:p>
          <a:p>
            <a:r>
              <a:t>drawn to show the structure. Real weights from a trained model look messier but</a:t>
            </a:r>
          </a:p>
          <a:p>
            <a:r>
              <a:t>have the same block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structural reason the cross-encoder cannot cache: the justification's</a:t>
            </a:r>
          </a:p>
          <a:p>
            <a:r>
              <a:t>representation depends on which text it is paired with. There is nothing to</a:t>
            </a:r>
          </a:p>
          <a:p>
            <a:r>
              <a:t>precompute. Every pair is a fresh forward pass.</a:t>
            </a:r>
          </a:p>
          <a:p/>
          <a:p>
            <a:r>
              <a:t>That is the entire cost story, and it is what forces the serving design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Expand the acronyms as you go.</a:t>
            </a:r>
          </a:p>
          <a:p/>
          <a:p>
            <a:r>
              <a:t>BERT: Bidirectional Encoder Representations from Transformers. 12 layers, 110M</a:t>
            </a:r>
          </a:p>
          <a:p>
            <a:r>
              <a:t>parameters, pretrained by predicting masked tokens.</a:t>
            </a:r>
          </a:p>
          <a:p/>
          <a:p>
            <a:r>
              <a:t>DistilBERT: the same thing compressed by knowledge distillation. 6 layers, 66M</a:t>
            </a:r>
          </a:p>
          <a:p>
            <a:r>
              <a:t>parameters, about 60% faster. Speed matters because we run many passes per</a:t>
            </a:r>
          </a:p>
          <a:p>
            <a:r>
              <a:t>document.</a:t>
            </a:r>
          </a:p>
          <a:p/>
          <a:p>
            <a:r>
              <a:t>MNLI: Multi-Genre Natural Language Inference. 393,000 sentence pairs labelled</a:t>
            </a:r>
          </a:p>
          <a:p>
            <a:r>
              <a:t>entail / contradict / neutral.</a:t>
            </a:r>
          </a:p>
          <a:p/>
          <a:p>
            <a:r>
              <a:t>The payoff of starting from MNLI is faster convergence and better low-data</a:t>
            </a:r>
          </a:p>
          <a:p>
            <a:r>
              <a:t>behaviour, which is exactly where the rare needs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practical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hides a decision worth naming: truncation policy. We cut the TEXT and</a:t>
            </a:r>
          </a:p>
          <a:p>
            <a:r>
              <a:t>always keep the justification whole, because the justification is short, curated</a:t>
            </a:r>
          </a:p>
          <a:p>
            <a:r>
              <a:t>and reused across every pair, while the text is long and its relevant passage</a:t>
            </a:r>
          </a:p>
          <a:p>
            <a:r>
              <a:t>could be anywhere.</a:t>
            </a:r>
          </a:p>
          <a:p/>
          <a:p>
            <a:r>
              <a:t>If texts routinely blow the budget, window them and take the max score across</a:t>
            </a:r>
          </a:p>
          <a:p>
            <a:r>
              <a:t>windows. Do not just raise max_length; attention cost grows with the square of</a:t>
            </a:r>
          </a:p>
          <a:p>
            <a:r>
              <a:t>sequence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epochs is the usual range for fine-tuning a pretrained encoder. Past that</a:t>
            </a:r>
          </a:p>
          <a:p>
            <a:r>
              <a:t>the model starts overwriting the pretrained representations rather than adapting</a:t>
            </a:r>
          </a:p>
          <a:p>
            <a:r>
              <a:t>them, and you see it as validation performance falling while training loss keeps</a:t>
            </a:r>
          </a:p>
          <a:p>
            <a:r>
              <a:t>dropping.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Micro-F1 pools every pair decision, so frequent needs dominate. Macro-F1 averages</a:t>
            </a:r>
          </a:p>
          <a:p>
            <a:r>
              <a:t>per-need F1, so a need with six examples counts as much as one with nine hundred.</a:t>
            </a:r>
          </a:p>
          <a:p/>
          <a:p>
            <a:r>
              <a:t>Use mAP for model selection because it evaluates the ranking and does not depend</a:t>
            </a:r>
          </a:p>
          <a:p>
            <a:r>
              <a:t>on a threshold you have not tuned yet.</a:t>
            </a:r>
          </a:p>
          <a:p/>
          <a:p>
            <a:r>
              <a:t>The threshold is a product decision. Human reviews everything, favour recall.</a:t>
            </a:r>
          </a:p>
          <a:p>
            <a:r>
              <a:t>Acted on automatically, favour precision. Tune it on validation, never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51 forward passes plus a vector search, and the cost does not grow as the</a:t>
            </a:r>
          </a:p>
          <a:p>
            <a:r>
              <a:t>repository grows. That is the whole point.</a:t>
            </a:r>
          </a:p>
          <a:p/>
          <a:p>
            <a:r>
              <a:t>The recall ceiling is the thing teams forget. If recall@50 is 0.88 then 0.88 is</a:t>
            </a:r>
          </a:p>
          <a:p>
            <a:r>
              <a:t>the best the full system can do, and tuning stage two past that is wasted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answer to "the metric punishes us for succeeding."</a:t>
            </a:r>
          </a:p>
          <a:p/>
          <a:p>
            <a:r>
              <a:t>Stop treating the uncited region as noise and start treating it as a queue.</a:t>
            </a:r>
          </a:p>
          <a:p>
            <a:r>
              <a:t>Score it, rank it, send the top few hundred to a human. Every verdict is a label</a:t>
            </a:r>
          </a:p>
          <a:p>
            <a:r>
              <a:t>that did not exist before, and adjudication is the ONLY mechanism that shrinks</a:t>
            </a:r>
          </a:p>
          <a:p>
            <a:r>
              <a:t>the unknown region.</a:t>
            </a:r>
          </a:p>
          <a:p/>
          <a:p>
            <a:r>
              <a:t>One caution: keep a fixed evaluation set of citations that never receives</a:t>
            </a:r>
          </a:p>
          <a:p>
            <a:r>
              <a:t>model-proposed edges, or the model starts grading its own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middle one operationally. Held-out citation recovery needs no</a:t>
            </a:r>
          </a:p>
          <a:p>
            <a:r>
              <a:t>adjudication budget, so it runs first, right after training.</a:t>
            </a:r>
          </a:p>
          <a:p/>
          <a:p>
            <a:r>
              <a:t>Adjudicated precision @ k is what you report upward. It is also the only number</a:t>
            </a:r>
          </a:p>
          <a:p>
            <a:r>
              <a:t>that directly answers "did this find anything new."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Circularity is the one to worry about most, because it is the failure mode that</a:t>
            </a:r>
          </a:p>
          <a:p>
            <a:r>
              <a:t>produces a GOOD number and a BAD system. Everything else announces itself</a:t>
            </a:r>
          </a:p>
          <a:p>
            <a:r>
              <a:t>eventually.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sequencing, because the order saves money.</a:t>
            </a:r>
          </a:p>
          <a:p/>
          <a:p>
            <a:r>
              <a:t>Step 2 is the one people skip. Measuring the retrieval ceiling before training</a:t>
            </a:r>
          </a:p>
          <a:p>
            <a:r>
              <a:t>anything costs an afternoon and can tell you the whole approach is capped lower</a:t>
            </a:r>
          </a:p>
          <a:p>
            <a:r>
              <a:t>than you need, before you have spent a GPU-hour or an adjudication hour.</a:t>
            </a:r>
          </a:p>
          <a:p/>
          <a:p>
            <a:r>
              <a:t>Step 5 last, because adjudication is the expensive resource in this project.</a:t>
            </a:r>
          </a:p>
          <a:p>
            <a:r>
              <a:t>Compute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402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Linking Reports to Information Needs</a:t>
            </a:r>
          </a:p>
          <a:p>
            <a:pPr algn="l">
              <a:spcAft>
                <a:spcPts val="0"/>
              </a:spcAft>
              <a:defRPr sz="1700" b="0">
                <a:solidFill>
                  <a:srgbClr val="93C5FD"/>
                </a:solidFill>
                <a:latin typeface="Calibri"/>
              </a:defRPr>
            </a:pPr>
            <a:r>
              <a:t>Pairwise attention over reports and need justifications, trained on author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The method in one sentence</a:t>
            </a:r>
          </a:p>
          <a:p>
            <a:pPr algn="l">
              <a:spcAft>
                <a:spcPts val="200"/>
              </a:spcAft>
              <a:defRPr sz="2000" b="0">
                <a:solidFill>
                  <a:srgbClr val="111827"/>
                </a:solidFill>
                <a:latin typeface="Calibri"/>
              </a:defRPr>
            </a:pPr>
            <a:r>
              <a:t>Score every (report, need justification) pair with a DistilBERT-MNLI cross-encoder,</a:t>
            </a:r>
          </a:p>
          <a:p>
            <a:pPr algn="l">
              <a:spcAft>
                <a:spcPts val="200"/>
              </a:spcAft>
              <a:defRPr sz="2000" b="0">
                <a:solidFill>
                  <a:srgbClr val="111827"/>
                </a:solidFill>
                <a:latin typeface="Calibri"/>
              </a:defRPr>
            </a:pPr>
            <a:r>
              <a:t>train it with binary cross-entropy on cited positives and sampled negatives,</a:t>
            </a:r>
          </a:p>
          <a:p>
            <a:pPr algn="l">
              <a:spcAft>
                <a:spcPts val="0"/>
              </a:spcAft>
              <a:defRPr sz="2000" b="0">
                <a:solidFill>
                  <a:srgbClr val="111827"/>
                </a:solidFill>
                <a:latin typeface="Calibri"/>
              </a:defRPr>
            </a:pPr>
            <a:r>
              <a:t>and serve it behind a retriever that narrows 1,000 needs to fifty.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Johnny Morgan   ·   University of Maryland, Baltimore County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What we have, and what we want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3429000" cy="1965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342900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2926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2563EB"/>
                </a:solidFill>
                <a:latin typeface="Calibri"/>
              </a:defRPr>
            </a:pPr>
            <a:r>
              <a:t>Reports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11827"/>
                </a:solidFill>
                <a:latin typeface="Calibri"/>
              </a:defRPr>
            </a:pPr>
            <a:r>
              <a:t>r₁ … rₙ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6B7280"/>
                </a:solidFill>
                <a:latin typeface="Calibri"/>
              </a:defRPr>
            </a:pPr>
            <a:r>
              <a:t>N ≈ 20,000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965960"/>
            <a:ext cx="3429000" cy="1965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965960"/>
            <a:ext cx="3429000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94560"/>
            <a:ext cx="2926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B45309"/>
                </a:solidFill>
                <a:latin typeface="Calibri"/>
              </a:defRPr>
            </a:pPr>
            <a:r>
              <a:t>Needs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11827"/>
                </a:solidFill>
                <a:latin typeface="Calibri"/>
              </a:defRPr>
            </a:pPr>
            <a:r>
              <a:t>n₁ … nₘ, each with a written</a:t>
            </a:r>
            <a:br/>
            <a:r>
              <a:t>justification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6B7280"/>
                </a:solidFill>
                <a:latin typeface="Calibri"/>
              </a:defRPr>
            </a:pPr>
            <a:r>
              <a:t>M &gt; 1,000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965960"/>
            <a:ext cx="3429000" cy="1965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19" y="1965960"/>
            <a:ext cx="3429000" cy="8229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1" y="2194560"/>
            <a:ext cx="2926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047857"/>
                </a:solidFill>
                <a:latin typeface="Calibri"/>
              </a:defRPr>
            </a:pPr>
            <a:r>
              <a:t>Citations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11827"/>
                </a:solidFill>
                <a:latin typeface="Calibri"/>
              </a:defRPr>
            </a:pPr>
            <a:r>
              <a:t>an author cited report rᵢ as</a:t>
            </a:r>
            <a:br/>
            <a:r>
              <a:t>satisfying need nⱼ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6B7280"/>
                </a:solidFill>
                <a:latin typeface="Calibri"/>
              </a:defRPr>
            </a:pPr>
            <a:r>
              <a:t>≈ 30,000 edges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43400"/>
            <a:ext cx="10881360" cy="68580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5312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20,000 × 1,000 = 20,000,000 candidate pairs. About 0.15% are cited.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57800"/>
            <a:ext cx="1088136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76672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047857"/>
                </a:solidFill>
                <a:latin typeface="Calibri"/>
              </a:defRPr>
            </a:pPr>
            <a:r>
              <a:t>The goal, both halves</a:t>
            </a:r>
          </a:p>
          <a:p>
            <a:pPr algn="l">
              <a:spcAft>
                <a:spcPts val="0"/>
              </a:spcAft>
              <a:defRPr sz="1700" b="1">
                <a:solidFill>
                  <a:srgbClr val="111827"/>
                </a:solidFill>
                <a:latin typeface="Calibri"/>
              </a:defRPr>
            </a:pPr>
            <a:r>
              <a:t>Given a new report, return the needs it satisfies. AND surface real report-need pairs nobody has cited.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The obvious approach, and why we are not using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120640" cy="3566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572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6B7280"/>
                </a:solidFill>
                <a:latin typeface="Calibri"/>
              </a:defRPr>
            </a:pPr>
            <a:r>
              <a:t>Treat need IDs as class labels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11827"/>
                </a:solidFill>
                <a:latin typeface="Calibri"/>
              </a:defRPr>
            </a:pPr>
            <a:r>
              <a:t>Encode the report alone.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11827"/>
                </a:solidFill>
                <a:latin typeface="Calibri"/>
              </a:defRPr>
            </a:pPr>
            <a:r>
              <a:t>Softmax over 1,000+ output classes.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111827"/>
                </a:solidFill>
                <a:latin typeface="Calibri"/>
              </a:defRPr>
            </a:pPr>
            <a:r>
              <a:t>Done in an afternoon.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B91C1C"/>
                </a:solidFill>
                <a:latin typeface="Calibri"/>
              </a:defRPr>
            </a:pPr>
            <a:r>
              <a:t>But: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91C1C"/>
                </a:solidFill>
                <a:latin typeface="Calibri"/>
              </a:defRPr>
            </a:pPr>
            <a:r>
              <a:t>The justifications are never read.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B91C1C"/>
                </a:solidFill>
                <a:latin typeface="Calibri"/>
              </a:defRPr>
            </a:pPr>
            <a:r>
              <a:t>A new need has no output unit, no training data, and no score until you retrain everything.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B91C1C"/>
                </a:solidFill>
                <a:latin typeface="Calibri"/>
              </a:defRPr>
            </a:pPr>
            <a:r>
              <a:t>Nothing learned transfers to an unseen need.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920240"/>
            <a:ext cx="5120640" cy="356616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48840"/>
            <a:ext cx="4572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047857"/>
                </a:solidFill>
                <a:latin typeface="Calibri"/>
              </a:defRPr>
            </a:pPr>
            <a:r>
              <a:t>Ask about the pair instead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11827"/>
                </a:solidFill>
                <a:latin typeface="Calibri"/>
              </a:defRPr>
            </a:pPr>
            <a:r>
              <a:t>Feed the report AND a candidate justification into one model.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111827"/>
                </a:solidFill>
                <a:latin typeface="Calibri"/>
              </a:defRPr>
            </a:pPr>
            <a:r>
              <a:t>Ask a yes-or-no question: does this report satisfy this need?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047857"/>
                </a:solidFill>
                <a:latin typeface="Calibri"/>
              </a:defRPr>
            </a:pPr>
            <a:r>
              <a:t>Because: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047857"/>
                </a:solidFill>
                <a:latin typeface="Calibri"/>
              </a:defRPr>
            </a:pPr>
            <a:r>
              <a:t>The justification is half the input.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047857"/>
                </a:solidFill>
                <a:latin typeface="Calibri"/>
              </a:defRPr>
            </a:pPr>
            <a:r>
              <a:t>A new need works the moment someone writes its justification.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47857"/>
                </a:solidFill>
                <a:latin typeface="Calibri"/>
              </a:defRPr>
            </a:pPr>
            <a:r>
              <a:t>Multi-label falls out for 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A7F3D0"/>
                </a:solidFill>
                <a:latin typeface="Calibri"/>
              </a:defRPr>
            </a:pPr>
            <a:r>
              <a:t>Part 1</a:t>
            </a:r>
          </a:p>
          <a:p>
            <a:pPr algn="l">
              <a:spcAft>
                <a:spcPts val="8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Supervised learning</a:t>
            </a:r>
          </a:p>
          <a:p>
            <a:pPr algn="l">
              <a:spcAft>
                <a:spcPts val="0"/>
              </a:spcAft>
              <a:defRPr sz="1900" b="0">
                <a:solidFill>
                  <a:srgbClr val="A7F3D0"/>
                </a:solidFill>
                <a:latin typeface="Calibri"/>
              </a:defRPr>
            </a:pPr>
            <a:r>
              <a:t>Fitting a function to labelled 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47857"/>
                </a:solidFill>
                <a:latin typeface="Calibri"/>
              </a:defRPr>
            </a:pPr>
            <a:r>
              <a:t>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One training step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The loop repeats over mini-batches until held-out performance stops improving</a:t>
            </a:r>
          </a:p>
        </p:txBody>
      </p:sp>
      <p:pic>
        <p:nvPicPr>
          <p:cNvPr id="5" name="Picture 4" descr="fig01_supervi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851" y="1965960"/>
            <a:ext cx="7949993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Supervised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47857"/>
                </a:solidFill>
                <a:latin typeface="Calibri"/>
              </a:defRPr>
            </a:pPr>
            <a:r>
              <a:t>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Why we hold data 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3429000" cy="1737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3429000" cy="82296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4028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47857"/>
                </a:solidFill>
                <a:latin typeface="Calibri"/>
              </a:defRPr>
            </a:pPr>
            <a:r>
              <a:t>Training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111827"/>
                </a:solidFill>
                <a:latin typeface="Calibri"/>
              </a:defRPr>
            </a:pPr>
            <a:r>
              <a:t>The model sees these and learns from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011680"/>
            <a:ext cx="3429000" cy="1737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011680"/>
            <a:ext cx="3429000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24028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B45309"/>
                </a:solidFill>
                <a:latin typeface="Calibri"/>
              </a:defRPr>
            </a:pPr>
            <a:r>
              <a:t>Validation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111827"/>
                </a:solidFill>
                <a:latin typeface="Calibri"/>
              </a:defRPr>
            </a:pPr>
            <a:r>
              <a:t>Never trained on. Used to choose hyperparameters and to decide when to stop.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2011680"/>
            <a:ext cx="3429000" cy="1737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19" y="2011680"/>
            <a:ext cx="3429000" cy="8229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1" y="224028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B91C1C"/>
                </a:solidFill>
                <a:latin typeface="Calibri"/>
              </a:defRPr>
            </a:pPr>
            <a:r>
              <a:t>Test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111827"/>
                </a:solidFill>
                <a:latin typeface="Calibri"/>
              </a:defRPr>
            </a:pPr>
            <a:r>
              <a:t>Touched once, at the very end, to report a number.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60520"/>
            <a:ext cx="10881360" cy="169164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B91C1C"/>
                </a:solidFill>
                <a:latin typeface="Calibri"/>
              </a:defRPr>
            </a:pPr>
            <a:r>
              <a:t>The trap specific to this task</a:t>
            </a:r>
          </a:p>
          <a:p>
            <a:pPr algn="l">
              <a:spcAft>
                <a:spcPts val="400"/>
              </a:spcAft>
              <a:defRPr sz="2000" b="1">
                <a:solidFill>
                  <a:srgbClr val="111827"/>
                </a:solidFill>
                <a:latin typeface="Calibri"/>
              </a:defRPr>
            </a:pPr>
            <a:r>
              <a:t>Split by TEXT, not by pair.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111827"/>
                </a:solidFill>
                <a:latin typeface="Calibri"/>
              </a:defRPr>
            </a:pPr>
            <a:r>
              <a:t>If a text appears in training paired with need A and in validation paired with need B, the model has already read that text. The validation score is inflated and you will not see it happen.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Supervised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FDE68A"/>
                </a:solidFill>
                <a:latin typeface="Calibri"/>
              </a:defRPr>
            </a:pPr>
            <a:r>
              <a:t>Part 2</a:t>
            </a:r>
          </a:p>
          <a:p>
            <a:pPr algn="l">
              <a:spcAft>
                <a:spcPts val="8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Where the label lives</a:t>
            </a:r>
          </a:p>
          <a:p>
            <a:pPr algn="l">
              <a:spcAft>
                <a:spcPts val="0"/>
              </a:spcAft>
              <a:defRPr sz="1900" b="0">
                <a:solidFill>
                  <a:srgbClr val="FDE68A"/>
                </a:solidFill>
                <a:latin typeface="Calibri"/>
              </a:defRPr>
            </a:pPr>
            <a:r>
              <a:t>The single design decision the rest of the talk depends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WHERE THE LABEL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The label is a property of the pair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Not of the text. This is the reframing.</a:t>
            </a:r>
          </a:p>
        </p:txBody>
      </p:sp>
      <p:pic>
        <p:nvPicPr>
          <p:cNvPr id="5" name="Picture 4" descr="fig06_pair_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499" y="1965960"/>
            <a:ext cx="7540696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Where the label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WHERE THE LABEL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One text, three candidate needs</a:t>
            </a:r>
          </a:p>
        </p:txBody>
      </p:sp>
      <p:pic>
        <p:nvPicPr>
          <p:cNvPr id="5" name="Picture 4" descr="fig10_worked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903" y="1874519"/>
            <a:ext cx="8309888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Where the label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WHERE THE LABELS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Our labels are citations, and that cuts both ways</a:t>
            </a:r>
          </a:p>
        </p:txBody>
      </p:sp>
      <p:pic>
        <p:nvPicPr>
          <p:cNvPr id="5" name="Picture 4" descr="fig11_citation_label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744" y="1828800"/>
            <a:ext cx="7344207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650992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Calibri"/>
              </a:defRPr>
            </a:pPr>
            <a:r>
              <a:t>A citation is a reliable POSITIVE. The absence of a citation is NOT a negative.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Where the labels come 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WHERE THE LABELS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Three consequences, and each one shows up later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82296" cy="1234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650" b="1">
                <a:solidFill>
                  <a:srgbClr val="111827"/>
                </a:solidFill>
                <a:latin typeface="Calibri"/>
              </a:defRPr>
            </a:pPr>
            <a:r>
              <a:t>Sampled negatives are assumptions, not facts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At 0.15% density the assumption is nearly always right. It is wrong most often on the pairs that look most relevant, which are exactly the ones we draw as hard negatives.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74720"/>
            <a:ext cx="82296" cy="1234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650" b="1">
                <a:solidFill>
                  <a:srgbClr val="111827"/>
                </a:solidFill>
                <a:latin typeface="Calibri"/>
              </a:defRPr>
            </a:pPr>
            <a:r>
              <a:t>Measured precision is a floor, not an estimate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Flag a genuinely relevant uncited pair and the scorer calls it a false positive. True precision is at least the measured number. Model-to-model comparison is still valid; the absolute value understates.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37760"/>
            <a:ext cx="82296" cy="12344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89204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650" b="1">
                <a:solidFill>
                  <a:srgbClr val="111827"/>
                </a:solidFill>
                <a:latin typeface="Calibri"/>
              </a:defRPr>
            </a:pPr>
            <a:r>
              <a:t>The errors are the product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A high-scoring uncited pair is the thing you asked for. That is a workflow, not a metric problem.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Where the labels come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DATA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How to structure the training data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Three tables you curate, one the trainer derives</a:t>
            </a:r>
          </a:p>
        </p:txBody>
      </p:sp>
      <p:pic>
        <p:nvPicPr>
          <p:cNvPr id="5" name="Picture 4" descr="fig12_data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638" y="1874519"/>
            <a:ext cx="6738418" cy="3794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760720"/>
            <a:ext cx="10515600" cy="502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338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50" b="0">
                <a:solidFill>
                  <a:srgbClr val="111827"/>
                </a:solidFill>
                <a:latin typeface="Calibri"/>
              </a:defRPr>
            </a:pPr>
            <a:r>
              <a:t>Never hand-edit the pairs table. If you do, the sampling policy stops being reproducible.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Data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BUILDING THE TRAINING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Negative sampling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With 1,000+ needs at 0.15% density, the natural balance is about 1 positive to 660 unlabeled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1088136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B91C1C"/>
                </a:solidFill>
                <a:latin typeface="Calibri"/>
              </a:defRPr>
            </a:pPr>
            <a:r>
              <a:t>Train on that directly and the model answers "no" to everything. 99.85% accurate. Useless.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37560"/>
            <a:ext cx="5257800" cy="160020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7872"/>
            <a:ext cx="4709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B91C1C"/>
                </a:solidFill>
                <a:latin typeface="Calibri"/>
              </a:defRPr>
            </a:pPr>
            <a:r>
              <a:t>4 hard negatives   per positive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111827"/>
                </a:solidFill>
                <a:latin typeface="Calibri"/>
              </a:defRPr>
            </a:pPr>
            <a:r>
              <a:t>Needs a cheap retriever ranks highly but that are NOT gold. These sit on the boundary and do the teaching.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337560"/>
            <a:ext cx="525780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547872"/>
            <a:ext cx="4709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6B7280"/>
                </a:solidFill>
                <a:latin typeface="Calibri"/>
              </a:defRPr>
            </a:pPr>
            <a:r>
              <a:t>4 random negatives   per positive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111827"/>
                </a:solidFill>
                <a:latin typeface="Calibri"/>
              </a:defRPr>
            </a:pPr>
            <a:r>
              <a:t>Uniformly sampled. These stop the model calling everything vaguely on-topic relevant.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B91C1C"/>
                </a:solidFill>
                <a:latin typeface="Calibri"/>
              </a:defRPr>
            </a:pPr>
            <a:r>
              <a:t>The tension, stated plainly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111827"/>
                </a:solidFill>
                <a:latin typeface="Calibri"/>
              </a:defRPr>
            </a:pPr>
            <a:r>
              <a:t>A hard negative is a pair the retriever thinks looks relevant. That is also the description of an uncited-but-relevant pair. Sharper mining means more false negatives.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Building the training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DDD6FE"/>
                </a:solidFill>
                <a:latin typeface="Calibri"/>
              </a:defRPr>
            </a:pPr>
            <a:r>
              <a:t>Part 3</a:t>
            </a:r>
          </a:p>
          <a:p>
            <a:pPr algn="l">
              <a:spcAft>
                <a:spcPts val="8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Transformers and attention</a:t>
            </a:r>
          </a:p>
          <a:p>
            <a:pPr algn="l">
              <a:spcAft>
                <a:spcPts val="0"/>
              </a:spcAft>
              <a:defRPr sz="1900" b="0">
                <a:solidFill>
                  <a:srgbClr val="DDD6FE"/>
                </a:solidFill>
                <a:latin typeface="Calibri"/>
              </a:defRPr>
            </a:pPr>
            <a:r>
              <a:t>How a token reads the rest of the sequence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D28D9"/>
                </a:solidFill>
                <a:latin typeface="Calibri"/>
              </a:defRPr>
            </a:pPr>
            <a:r>
              <a:t>TRANSFORMERS AND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Self-attention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Every token emits a Query, a Key and a Value. Queries match against Keys to weight the Values.</a:t>
            </a:r>
          </a:p>
        </p:txBody>
      </p:sp>
      <p:pic>
        <p:nvPicPr>
          <p:cNvPr id="5" name="Picture 4" descr="fig02_attention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48" y="2011680"/>
            <a:ext cx="6936199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Transformers and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FECACA"/>
                </a:solidFill>
                <a:latin typeface="Calibri"/>
              </a:defRPr>
            </a:pPr>
            <a:r>
              <a:t>Part 4</a:t>
            </a:r>
          </a:p>
          <a:p>
            <a:pPr algn="l">
              <a:spcAft>
                <a:spcPts val="8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Pairwise attention</a:t>
            </a:r>
          </a:p>
          <a:p>
            <a:pPr algn="l">
              <a:spcAft>
                <a:spcPts val="0"/>
              </a:spcAft>
              <a:defRPr sz="1900" b="0">
                <a:solidFill>
                  <a:srgbClr val="FECACA"/>
                </a:solidFill>
                <a:latin typeface="Calibri"/>
              </a:defRPr>
            </a:pPr>
            <a:r>
              <a:t>What it actually means, and why it earns its cost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91C1C"/>
                </a:solidFill>
                <a:latin typeface="Calibri"/>
              </a:defRPr>
            </a:pPr>
            <a:r>
              <a:t>PAIRWISE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Build one sequence out of two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881360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[CLS]  &lt;report text&gt;  [SEP]  &lt;need justification&gt;  [SEP]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93008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2563EB"/>
                </a:solidFill>
                <a:latin typeface="Calibri"/>
              </a:defRPr>
            </a:pPr>
            <a:r>
              <a:t>[CLS]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111827"/>
                </a:solidFill>
                <a:latin typeface="Calibri"/>
              </a:defRPr>
            </a:pPr>
            <a:r>
              <a:t>A special token. Its final vector is the summary of the whole pair, and it is what the classifier head reads.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73152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07407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B45309"/>
                </a:solidFill>
                <a:latin typeface="Calibri"/>
              </a:defRPr>
            </a:pPr>
            <a:r>
              <a:t>[SEP]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111827"/>
                </a:solidFill>
                <a:latin typeface="Calibri"/>
              </a:defRPr>
            </a:pPr>
            <a:r>
              <a:t>Marks the boundary between the two segments.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34924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21807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6D28D9"/>
                </a:solidFill>
                <a:latin typeface="Calibri"/>
              </a:defRPr>
            </a:pPr>
            <a:r>
              <a:t>Segment embeddings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111827"/>
                </a:solidFill>
                <a:latin typeface="Calibri"/>
              </a:defRPr>
            </a:pPr>
            <a:r>
              <a:t>Added to every token, recording which side it came from, so the model knows which half is which.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263640"/>
            <a:ext cx="10881360" cy="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Pairwise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91C1C"/>
                </a:solidFill>
                <a:latin typeface="Calibri"/>
              </a:defRPr>
            </a:pPr>
            <a:r>
              <a:t>PAIRWISE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This is pairwise attention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The two dashed blocks are the whole argument for the architecture</a:t>
            </a:r>
          </a:p>
        </p:txBody>
      </p:sp>
      <p:pic>
        <p:nvPicPr>
          <p:cNvPr id="5" name="Picture 4" descr="fig03_cross_segment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452827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2148840"/>
            <a:ext cx="48463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11827"/>
                </a:solidFill>
                <a:latin typeface="Calibri"/>
              </a:defRPr>
            </a:pPr>
            <a:r>
              <a:t>Four regions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text reads text</a:t>
            </a:r>
          </a:p>
          <a:p>
            <a:pPr algn="l">
              <a:spcAft>
                <a:spcPts val="800"/>
              </a:spcAft>
              <a:defRPr sz="1250" b="0">
                <a:solidFill>
                  <a:srgbClr val="6B7280"/>
                </a:solidFill>
                <a:latin typeface="Calibri"/>
              </a:defRPr>
            </a:pPr>
            <a:r>
              <a:t>standard self-attention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B45309"/>
                </a:solidFill>
                <a:latin typeface="Calibri"/>
              </a:defRPr>
            </a:pPr>
            <a:r>
              <a:t>need reads need</a:t>
            </a:r>
          </a:p>
          <a:p>
            <a:pPr algn="l">
              <a:spcAft>
                <a:spcPts val="800"/>
              </a:spcAft>
              <a:defRPr sz="1250" b="0">
                <a:solidFill>
                  <a:srgbClr val="6B7280"/>
                </a:solidFill>
                <a:latin typeface="Calibri"/>
              </a:defRPr>
            </a:pPr>
            <a:r>
              <a:t>standard self-attention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B91C1C"/>
                </a:solidFill>
                <a:latin typeface="Calibri"/>
              </a:defRPr>
            </a:pPr>
            <a:r>
              <a:t>text ↔ justification</a:t>
            </a:r>
          </a:p>
          <a:p>
            <a:pPr algn="l">
              <a:spcAft>
                <a:spcPts val="1000"/>
              </a:spcAft>
              <a:defRPr sz="1250" b="0">
                <a:solidFill>
                  <a:srgbClr val="111827"/>
                </a:solidFill>
                <a:latin typeface="Calibri"/>
              </a:defRPr>
            </a:pPr>
            <a:r>
              <a:t>the cross-segment blocks. "cities" attends to "municipal". "raised" attends to "rise".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B91C1C"/>
                </a:solidFill>
                <a:latin typeface="Calibri"/>
              </a:defRPr>
            </a:pPr>
            <a:r>
              <a:t>At every one of the six layers.</a:t>
            </a:r>
          </a:p>
          <a:p>
            <a:pPr algn="l">
              <a:spcAft>
                <a:spcPts val="0"/>
              </a:spcAft>
              <a:defRPr sz="1250" b="0">
                <a:solidFill>
                  <a:srgbClr val="6B7280"/>
                </a:solidFill>
                <a:latin typeface="Calibri"/>
              </a:defRPr>
            </a:pPr>
            <a:r>
              <a:t>A bi-encoder cannot do this. It has already compressed each side to one 768-d vector before any comparison happens.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Pairwise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91C1C"/>
                </a:solidFill>
                <a:latin typeface="Calibri"/>
              </a:defRPr>
            </a:pPr>
            <a:r>
              <a:t>PAIRWISE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The cost of doing it this way</a:t>
            </a:r>
          </a:p>
        </p:txBody>
      </p:sp>
      <p:pic>
        <p:nvPicPr>
          <p:cNvPr id="5" name="Picture 4" descr="fig04_encod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484" y="1828800"/>
            <a:ext cx="6780727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577840"/>
            <a:ext cx="1051560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68756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50" b="1">
                <a:solidFill>
                  <a:srgbClr val="111827"/>
                </a:solidFill>
                <a:latin typeface="Calibri"/>
              </a:defRPr>
            </a:pPr>
            <a:r>
              <a:t>We are not choosing. We train the cross-encoder and use a bi-encoder to decide which pairs are worth scoring.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Pairwise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D28D9"/>
                </a:solidFill>
                <a:latin typeface="Calibri"/>
              </a:defRPr>
            </a:pPr>
            <a: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DistilBERT-MNLI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Three rounds of training happened before ours</a:t>
            </a:r>
          </a:p>
        </p:txBody>
      </p:sp>
      <p:pic>
        <p:nvPicPr>
          <p:cNvPr id="5" name="Picture 4" descr="fig05_distilbert_mn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90" y="1920240"/>
            <a:ext cx="7161115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458968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6D28D9"/>
                </a:solidFill>
                <a:latin typeface="Calibri"/>
              </a:defRPr>
            </a:pPr>
            <a:r>
              <a:t>Why MNLI transfers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111827"/>
                </a:solidFill>
                <a:latin typeface="Calibri"/>
              </a:defRPr>
            </a:pPr>
            <a:r>
              <a:t>MNLI asks whether a premise supports a hypothesis. We ask whether a text satisfies an information need. Same shape of question, different vocabulary.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The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A7F3D0"/>
                </a:solidFill>
                <a:latin typeface="Calibri"/>
              </a:defRPr>
            </a:pPr>
            <a:r>
              <a:t>Part 5</a:t>
            </a:r>
          </a:p>
          <a:p>
            <a:pPr algn="l">
              <a:spcAft>
                <a:spcPts val="8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Training, evaluation, serving</a:t>
            </a:r>
          </a:p>
          <a:p>
            <a:pPr algn="l">
              <a:spcAft>
                <a:spcPts val="0"/>
              </a:spcAft>
              <a:defRPr sz="1900" b="0">
                <a:solidFill>
                  <a:srgbClr val="A7F3D0"/>
                </a:solidFill>
                <a:latin typeface="Calibri"/>
              </a:defRPr>
            </a:pPr>
            <a:r>
              <a:t>The parts that decide whether it works in practice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47857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The training pipeline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One mini-batch, raw strings to weight update</a:t>
            </a:r>
          </a:p>
        </p:txBody>
      </p:sp>
      <p:pic>
        <p:nvPicPr>
          <p:cNvPr id="5" name="Picture 4" descr="fig07_train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095" y="2011680"/>
            <a:ext cx="8593505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47857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Settings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Starting points. The learning rate and the sampling ratio are what to tune first.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65960"/>
          <a:ext cx="105156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223760"/>
              </a:tblGrid>
              <a:tr h="3657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Base checkpoint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typeform/distilbert-base-uncased-mnli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Max sequence length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256 tokens, truncate the text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32 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Optimiser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AdamW, weight decay 0.01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2e-5, linear decay, 10% warmup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3, early stopping on validation mAP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binary cross-entropy on the sigmoid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Negative sampling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 hard + 4 random per positive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fp16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47857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Evaluating a multi-label model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Accuracy is unusable. Predicting nothing scores above 99%.</a:t>
            </a:r>
          </a:p>
        </p:txBody>
      </p:sp>
      <p:pic>
        <p:nvPicPr>
          <p:cNvPr id="5" name="Picture 4" descr="fig08_multilabel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74" y="1828800"/>
            <a:ext cx="7924747" cy="3337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50468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1827"/>
                </a:solidFill>
                <a:latin typeface="Calibri"/>
              </a:defRPr>
            </a:pPr>
            <a:r>
              <a:t>The single most informative number is the GAP between micro-F1 and macro-F1.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111827"/>
                </a:solidFill>
                <a:latin typeface="Calibri"/>
              </a:defRPr>
            </a:pPr>
            <a:r>
              <a:t>A large gap means the model works on common needs and fails on rare ones. Micro hides the long tail. Macro exposes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Serving against 1,000+ needs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1,000 needs x 5 ms per pair = 5 s per report, so ~28 GPU-hours to sweep the 20,000-report backlog once</a:t>
            </a:r>
          </a:p>
        </p:txBody>
      </p:sp>
      <p:pic>
        <p:nvPicPr>
          <p:cNvPr id="5" name="Picture 4" descr="fig09_ser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39" y="1920240"/>
            <a:ext cx="7263416" cy="3246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50468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B91C1C"/>
                </a:solidFill>
                <a:latin typeface="Calibri"/>
              </a:defRPr>
            </a:pPr>
            <a:r>
              <a:t>Stage one sets a hard ceiling on recall.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111827"/>
                </a:solidFill>
                <a:latin typeface="Calibri"/>
              </a:defRPr>
            </a:pPr>
            <a:r>
              <a:t>If the right need is not in the top k, no amount of cross-encoder quality recovers it. Measure recall@k first and report it next to the end-to-end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Serving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D28D9"/>
                </a:solidFill>
                <a:latin typeface="Calibri"/>
              </a:defRPr>
            </a:pPr>
            <a:r>
              <a:t>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The discovery loop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The uncited pairs the model scores highly are the output, not the error</a:t>
            </a:r>
          </a:p>
        </p:txBody>
      </p:sp>
      <p:pic>
        <p:nvPicPr>
          <p:cNvPr id="5" name="Picture 4" descr="fig13_discovery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6" y="1920240"/>
            <a:ext cx="6951402" cy="3383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596128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111827"/>
                </a:solidFill>
                <a:latin typeface="Calibri"/>
              </a:defRPr>
            </a:pPr>
            <a:r>
              <a:t>Both verdicts are worth more than a sampled label.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111827"/>
                </a:solidFill>
                <a:latin typeface="Calibri"/>
              </a:defRPr>
            </a:pPr>
            <a:r>
              <a:t>YES is a discovery and a new positive edge. NO is a CONFIRMED negative, which the raw data never contained.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D28D9"/>
                </a:solidFill>
                <a:latin typeface="Calibri"/>
              </a:defRPr>
            </a:pPr>
            <a:r>
              <a:t>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Measuring discovery, since standard metrics will not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Precision and recall answer "does it reproduce what authors already wrote?" That is not the question you asked.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82296" cy="1188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424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650" b="1">
                <a:solidFill>
                  <a:srgbClr val="111827"/>
                </a:solidFill>
                <a:latin typeface="Calibri"/>
              </a:defRPr>
            </a:pPr>
            <a:r>
              <a:t>Adjudicated precision @ k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Of the top k uncited pairs sent to a human, what fraction were confirmed real? The direct measure of discovery yield, and the number to report to a sponsor. Costs human time and nothing substitutes for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82296" cy="11887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20440"/>
            <a:ext cx="10424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650" b="1">
                <a:solidFill>
                  <a:srgbClr val="111827"/>
                </a:solidFill>
                <a:latin typeface="Calibri"/>
              </a:defRPr>
            </a:pPr>
            <a:r>
              <a:t>Held-out citation recovery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Hide 10% of known citations, train without them, check where they rank among that report's uncited pairs. A proxy for discovery that costs NO human time, so it is what you run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83480"/>
            <a:ext cx="82296" cy="1188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937760"/>
            <a:ext cx="104241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650" b="1">
                <a:solidFill>
                  <a:srgbClr val="111827"/>
                </a:solidFill>
                <a:latin typeface="Calibri"/>
              </a:defRPr>
            </a:pPr>
            <a:r>
              <a:t>Yield curve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Confirmed discoveries against pairs adjudicated. It will flatten. Where it flattens tells you when to stop reviewing.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91C1C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What we expect to go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50" b="1">
                <a:solidFill>
                  <a:srgbClr val="111827"/>
                </a:solidFill>
                <a:latin typeface="Calibri"/>
              </a:defRPr>
            </a:pPr>
            <a:r>
              <a:t>Justification quality is the ceiling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 need described in one vague sentence will perform badly no matter how long we train. Sort needs by F1 and read the worst justifications before blaming the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35808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90088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50" b="1">
                <a:solidFill>
                  <a:srgbClr val="111827"/>
                </a:solidFill>
                <a:latin typeface="Calibri"/>
              </a:defRPr>
            </a:pPr>
            <a:r>
              <a:t>Citation is a proxy for relevance, and proxies drift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An author cited a report because it was relevant AND because they found it, could access it, and remembered it. The model learns all four. Check per-need precision against report age and indexing tier.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05656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59936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50" b="1">
                <a:solidFill>
                  <a:srgbClr val="111827"/>
                </a:solidFill>
                <a:latin typeface="Calibri"/>
              </a:defRPr>
            </a:pPr>
            <a:r>
              <a:t>Circularity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If a justification was written by reading the reports now cited against it, the model scores well for a reason that will not survive new documents. Compare needs.opened_on against citations.cited_on.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75504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29784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550" b="1">
                <a:solidFill>
                  <a:srgbClr val="111827"/>
                </a:solidFill>
                <a:latin typeface="Calibri"/>
              </a:defRPr>
            </a:pPr>
            <a:r>
              <a:t>Preferential attachment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 few needs attract most citations. The model learns that skew and reproduces it, making popular needs look well-served regardless of the texts. Plot per-need F1 against citation count.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Suggested order of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41148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86584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368296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50" b="0">
                <a:solidFill>
                  <a:srgbClr val="111827"/>
                </a:solidFill>
                <a:latin typeface="Calibri"/>
              </a:defRPr>
            </a:pPr>
            <a:r>
              <a:t>Build the three tables. Count the citations and measure the TRUE density first, since every estimate keys off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44952"/>
            <a:ext cx="411480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99816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81528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50" b="0">
                <a:solidFill>
                  <a:srgbClr val="111827"/>
                </a:solidFill>
                <a:latin typeface="Calibri"/>
              </a:defRPr>
            </a:pPr>
            <a:r>
              <a:t>Run the frozen bi-encoder alone and measure recall@50. One afternoon, no training, and it tells you the ceiling.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758184"/>
            <a:ext cx="411480" cy="5669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13048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9476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50" b="0">
                <a:solidFill>
                  <a:srgbClr val="111827"/>
                </a:solidFill>
                <a:latin typeface="Calibri"/>
              </a:defRPr>
            </a:pPr>
            <a:r>
              <a:t>Train the cross-encoder. A few hours on one GPU. This is the cheap part.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471416"/>
            <a:ext cx="411480" cy="5669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07992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50" b="0">
                <a:solidFill>
                  <a:srgbClr val="111827"/>
                </a:solidFill>
                <a:latin typeface="Calibri"/>
              </a:defRPr>
            </a:pPr>
            <a:r>
              <a:t>Run held-out citation recovery. Costs no human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184648"/>
            <a:ext cx="411480" cy="5669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39512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21224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450" b="0">
                <a:solidFill>
                  <a:srgbClr val="111827"/>
                </a:solidFill>
                <a:latin typeface="Calibri"/>
              </a:defRPr>
            </a:pPr>
            <a:r>
              <a:t>Only then adjudicate a few hundred top-ranked uncited pairs.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943600"/>
            <a:ext cx="1051560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50" b="1">
                <a:solidFill>
                  <a:srgbClr val="111827"/>
                </a:solidFill>
                <a:latin typeface="Calibri"/>
              </a:defRPr>
            </a:pPr>
            <a:r>
              <a:t>Report the micro/macro gap, recall@k, and adjudicated precision@k. Not the headline F1.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